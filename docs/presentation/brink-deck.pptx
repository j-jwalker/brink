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(0:20): We're Brink — a social network built on the music you actually listen to. I'm Andrea on the backend, Jonah built our analytics, and Sebastian built the frontend. It's live right now at this URL, and we'll demo it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(1:00): Social feeds show a curated performance. But your listening history is honest — it's who you actually are musically. Brink turns that into the social object: you share the tracks you're really playing, your friends react and comment, and underneath, machine learning finds the people whose taste genuinely matches yours. Two questions drove the whole build: what do you actually listen to, and who else listens like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(1:00): Concretely, four things. A feed of songs that play in place, with reactions and comments. A taste community for every user — a cluster our model learns. A compatibility score between any two people. And a lightweight artist portal. Everything you'll see is one live app, fully built. Now the part we're proudest of: HOW three people built and defended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(1:30): This is a management program, so process matters as much as code — and we treated it as a feature. Three numbers: 16 architecture decision records, 82 completed tickets each tied to a requirement, and about 320 automated tests. The guiding principle behind all of it: we only build things we can own and defend. That one idea explains almost every decision, and it's why we made two big pivots you'll see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(1:30): Our workflow has three gates. Decide: every architectural choice is a written ADR — append-only, so to change our minds we supersede rather than edit, and the reasoning never goes stale. Scope: every change is one ticket, one pull request, traced to a requirement — no scope creep. Enforce: CI runs the tests and a secret scan on every PR, plus a custom docs-sync gate — if you change code but not its docs, the build fails. You cannot merge stale documentation. That's how the paper trail stayed honest with three people moving fast.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(1:00): Two pivots, both from the same principle. We started on a TypeScript backend and a separate React frontend. But security-critical code — auth, token encryption — in a language not everyone could review is a liability for a graded project. So we moved the backend to Python/FastAPI, then retired the React app for server-rendered pages. The end state: one Python codebase every one of us can read, review, and defend. Both decisions are ADRs.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(1:00): The whole product is one FastAPI app on Render. It serves the JSON API and the HTML pages, same-origin — no CORS, no separate build. Supabase gives us Postgres, auth, and file storage. And a separate Python analytics job runs nightly on GitHub Actions, trains our model, and writes results back into the same database, which the app reads on the fly. Simple, cheap, entirely on free tiers.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(1:00): About 14 tables. The social side is what you'd expect — users, posts, reactions, comments, the follow graph. The interesting part is that the analytics tables live in their own medallion schemas — bronze, silver, gold — right alongside the social data in one Postgres. Jonah will explain why. One nice detail: a user's cluster and compatibility aren't stored — they're computed on read, so they're never stale.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(0:45): Security was the reason for the Python pivot, so we take it seriously. We validate Supabase tokens server-side and never hold a JWT secret. We own long-term Spotify access by storing the refresh token encrypted with AES-256-GCM. Writes are rate-limited per user, and a secret scanner runs on every commit locally and in CI. Over to Jonah for the analytics.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JONAH (1:15): Our data is organized in a medallion architecture — a standard data-engineering pattern. Bronze is raw, immutable landings: every Spotify 'recently played' pull and the raw Kaggle rows. Silver is cleaned, conformed data the app actually uses — the tracks and the plays. Gold is model output — the clusters and the trained model. We did this on plain free Postgres, no Spark or lakehouse — right-sized for the scale, and it gives us clean lineage we can point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JONAH (1:30): The ML has two halves. Offline, a nightly job trains K-means on about 1.2 million tracks across ten audio features — danceability, energy, valence, and so on — and produces seven taste communities. It exports a self-describing model artifact — the centroids and the scaler — into gold. Online, when you load a profile, the app builds that user's taste vector from the songs they've played, standardizes it with that same artifact, and finds their nearest community. Compatibility between two people is just the cosine similarity of their taste vectors. Nothing is hardcoded — the app reads whatever the last training run produced.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JONAH (0:45): And we were honest about the limits. The math actually preferred just two clusters, but a persona feature needs more, so we forced seven — and we disclose that, we didn't bury it. We report our real data-coverage numbers. And we originally planned a second model to predict song popularity — we cut it with a written ADR, because no dataset we had could support it honestly, and popularity isn't a stable thing to predict anyway. Cutting it cleanly was the right call. Sebastian will show how this surfaces in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SEBASTIAN (1:00): The whole frontend is server-rendered pages with a single, consistent theme — dark, quiet, music-native, with a lavender-and-pink accent. Five pages: a landing page, the feed, profiles, an artist studio, and an analytics page. There's no separate JavaScript app to build — the interactivity is lightweight JavaScript talking to the same API, which keeps the whole thing simple and fast to load.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SEBASTIAN (0:45): The details are what make it feel social. Songs play in place — tap the album art and a Spotify player opens in the card. You get a 'Liked by' line, double-tap to heart like you'd expect, and a one-tap 'share what you're hearing' that reads your current track straight from Spotify. Every empty state has a friendly nudge instead of a blank screen. Let me show you the real 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SEBASTIAN drives (~2:30). Pre-warm the Render instance so there's no cold-start wait. 1) Landing -&gt; feed: 'here's the live app', scroll, tap album art ('it plays right here'), react and comment. 2) Share: open the composer, use 'share what you're hearing', post it. 3) Profile (Andrea narrates): open another user's profile — streak, top tracks, the taste community, and because it's not me, a compatibility score — both computed live. 4) Analytics (Jonah narrates): seven taste tribes, how distinct they are, each tribe's audio DNA — real numbers from last night's training run. 5) Optional: artist studio. FALLBACK: if the live app misbehaves, cut to the screenshots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fallback / static reference: Landing — sign in; your listening becomes the feed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fallback / static reference: Feed — songs play in place, with reactions &amp; comments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fallback / static reference: Profile — taste community + % compatible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fallback / static reference: Artist studio — behind-the-scenes posts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fallback / static reference: Analytics — real model output: tribes &amp; audio DNA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(0:45), one line each. ANDREA: the willingness to pivot the stack twice — early, while it was cheap — is what kept the project reviewable. JONAH: being honest about the model's limits made the analytics more credible, not less. SEBASTIAN: one codebase and one theme meant we moved fast without stepping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ANDREA (0:15): That's Brink — live, built, and ours to defend.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Rectangle 1"/>
          <p:cNvSpPr/>
          <p:nvPr/>
        </p:nvSpPr>
        <p:spPr>
          <a:xfrm>
            <a:off x="822960" y="2331720"/>
            <a:ext cx="2194560" cy="635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1463040"/>
          </a:xfrm>
          <a:prstGeom prst="rect">
            <a:avLst/>
          </a:prstGeom>
          <a:noFill/>
        </p:spPr>
        <p:txBody>
          <a:bodyPr wrap="square">
            <a:spAutoFit/>
          </a:bodyPr>
          <a:lstStyle/>
          <a:p>
            <a:r>
              <a:rPr sz="5200" b="1" i="0">
                <a:solidFill>
                  <a:srgbClr val="EDEDF5"/>
                </a:solidFill>
                <a:latin typeface="Inter"/>
              </a:rPr>
              <a:t>Brink — Music, but social. 🎶</a:t>
            </a:r>
          </a:p>
        </p:txBody>
      </p:sp>
      <p:sp>
        <p:nvSpPr>
          <p:cNvPr id="4" name="TextBox 3"/>
          <p:cNvSpPr txBox="1"/>
          <p:nvPr/>
        </p:nvSpPr>
        <p:spPr>
          <a:xfrm>
            <a:off x="822960" y="3794760"/>
            <a:ext cx="10515600" cy="914400"/>
          </a:xfrm>
          <a:prstGeom prst="rect">
            <a:avLst/>
          </a:prstGeom>
          <a:noFill/>
        </p:spPr>
        <p:txBody>
          <a:bodyPr wrap="square">
            <a:spAutoFit/>
          </a:bodyPr>
          <a:lstStyle/>
          <a:p>
            <a:r>
              <a:rPr sz="2400" b="1" i="0">
                <a:solidFill>
                  <a:srgbClr val="9D8DF1"/>
                </a:solidFill>
                <a:latin typeface="Inter"/>
              </a:rPr>
              <a:t>A social network built on your real listening.</a:t>
            </a:r>
          </a:p>
        </p:txBody>
      </p:sp>
      <p:sp>
        <p:nvSpPr>
          <p:cNvPr id="5" name="TextBox 4"/>
          <p:cNvSpPr txBox="1"/>
          <p:nvPr/>
        </p:nvSpPr>
        <p:spPr>
          <a:xfrm>
            <a:off x="822960" y="4754880"/>
            <a:ext cx="10515600" cy="1280160"/>
          </a:xfrm>
          <a:prstGeom prst="rect">
            <a:avLst/>
          </a:prstGeom>
          <a:noFill/>
        </p:spPr>
        <p:txBody>
          <a:bodyPr wrap="square">
            <a:spAutoFit/>
          </a:bodyPr>
          <a:lstStyle/>
          <a:p>
            <a:r>
              <a:rPr sz="1600" b="0" i="0">
                <a:solidFill>
                  <a:srgbClr val="8A8AA3"/>
                </a:solidFill>
                <a:latin typeface="Inter"/>
              </a:rPr>
              <a:t>brink-xg7p.onrender.com</a:t>
            </a:r>
          </a:p>
          <a:p>
            <a:r>
              <a:rPr sz="1600" b="0" i="0">
                <a:solidFill>
                  <a:srgbClr val="8A8AA3"/>
                </a:solidFill>
                <a:latin typeface="Inter"/>
              </a:rPr>
              <a:t>Andrea Vreugdenhil (backend) · Jonah Walker (analytics) · Sebastian Arguedas Soley (frontend)</a:t>
            </a:r>
          </a:p>
          <a:p>
            <a:r>
              <a:rPr sz="1600" b="0" i="0">
                <a:solidFill>
                  <a:srgbClr val="8A8AA3"/>
                </a:solidFill>
                <a:latin typeface="Inter"/>
              </a:rPr>
              <a:t>McGill Desautels — MMA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Your feed is what you perform.
Your listening is who you are.</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0" i="0">
                <a:solidFill>
                  <a:srgbClr val="EDEDF5"/>
                </a:solidFill>
                <a:latin typeface="Inter"/>
              </a:rPr>
              <a:t>•  Social feeds show a curated performance.</a:t>
            </a:r>
          </a:p>
          <a:p>
            <a:pPr>
              <a:spcAft>
                <a:spcPts val="1200"/>
              </a:spcAft>
            </a:pPr>
            <a:r>
              <a:rPr sz="2000" b="0" i="0">
                <a:solidFill>
                  <a:srgbClr val="EDEDF5"/>
                </a:solidFill>
                <a:latin typeface="Inter"/>
              </a:rPr>
              <a:t>•  Your listening history is honest — it's who you actually are musically.</a:t>
            </a:r>
          </a:p>
          <a:p>
            <a:pPr>
              <a:spcAft>
                <a:spcPts val="1200"/>
              </a:spcAft>
            </a:pPr>
            <a:r>
              <a:rPr sz="2000" b="0" i="0">
                <a:solidFill>
                  <a:srgbClr val="EDEDF5"/>
                </a:solidFill>
                <a:latin typeface="Inter"/>
              </a:rPr>
              <a:t>•  Brink makes that the social object: share what you're really playing; friends react.</a:t>
            </a:r>
          </a:p>
          <a:p>
            <a:pPr>
              <a:spcAft>
                <a:spcPts val="1200"/>
              </a:spcAft>
            </a:pPr>
            <a:r>
              <a:rPr sz="2000" b="1" i="0">
                <a:solidFill>
                  <a:srgbClr val="F472B6"/>
                </a:solidFill>
                <a:latin typeface="Inter"/>
              </a:rPr>
              <a:t>Two questions drive everything: what do you listen to, and who listens like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What Brink is</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Feed  —  songs that play in place, with reactions &amp; comments</a:t>
            </a:r>
          </a:p>
          <a:p>
            <a:pPr>
              <a:spcAft>
                <a:spcPts val="1200"/>
              </a:spcAft>
            </a:pPr>
            <a:r>
              <a:rPr sz="2000" b="1" i="0">
                <a:solidFill>
                  <a:srgbClr val="F472B6"/>
                </a:solidFill>
                <a:latin typeface="Inter"/>
              </a:rPr>
              <a:t>Taste communities  —  a cluster our model learns for every user</a:t>
            </a:r>
          </a:p>
          <a:p>
            <a:pPr>
              <a:spcAft>
                <a:spcPts val="1200"/>
              </a:spcAft>
            </a:pPr>
            <a:r>
              <a:rPr sz="2000" b="1" i="0">
                <a:solidFill>
                  <a:srgbClr val="F472B6"/>
                </a:solidFill>
                <a:latin typeface="Inter"/>
              </a:rPr>
              <a:t>Compatibility  —  a score between any two people</a:t>
            </a:r>
          </a:p>
          <a:p>
            <a:pPr>
              <a:spcAft>
                <a:spcPts val="1200"/>
              </a:spcAft>
            </a:pPr>
            <a:r>
              <a:rPr sz="2000" b="1" i="0">
                <a:solidFill>
                  <a:srgbClr val="F472B6"/>
                </a:solidFill>
                <a:latin typeface="Inter"/>
              </a:rPr>
              <a:t>Artist portal  —  behind-the-scenes posts to fans</a:t>
            </a:r>
          </a:p>
          <a:p>
            <a:pPr>
              <a:spcAft>
                <a:spcPts val="1200"/>
              </a:spcAft>
            </a:pPr>
            <a:r>
              <a:rPr sz="2000" b="0" i="0">
                <a:solidFill>
                  <a:srgbClr val="EDEDF5"/>
                </a:solidFill>
                <a:latin typeface="Inter"/>
              </a:rPr>
              <a:t>•  One live app, fully built — the full requirement list is delivered and traced.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1:30</a:t>
            </a:r>
          </a:p>
        </p:txBody>
      </p:sp>
      <p:sp>
        <p:nvSpPr>
          <p:cNvPr id="3" name="TextBox 2"/>
          <p:cNvSpPr txBox="1"/>
          <p:nvPr/>
        </p:nvSpPr>
        <p:spPr>
          <a:xfrm>
            <a:off x="640080" y="868680"/>
            <a:ext cx="10881360" cy="914400"/>
          </a:xfrm>
          <a:prstGeom prst="rect">
            <a:avLst/>
          </a:prstGeom>
          <a:noFill/>
        </p:spPr>
        <p:txBody>
          <a:bodyPr wrap="square">
            <a:spAutoFit/>
          </a:bodyPr>
          <a:lstStyle/>
          <a:p>
            <a:r>
              <a:rPr sz="3000" b="1" i="0">
                <a:solidFill>
                  <a:srgbClr val="EDEDF5"/>
                </a:solidFill>
                <a:latin typeface="Inter"/>
              </a:rPr>
              <a:t>How it was built: process is a feature</a:t>
            </a:r>
          </a:p>
        </p:txBody>
      </p:sp>
      <p:sp>
        <p:nvSpPr>
          <p:cNvPr id="4" name="TextBox 3"/>
          <p:cNvSpPr txBox="1"/>
          <p:nvPr/>
        </p:nvSpPr>
        <p:spPr>
          <a:xfrm>
            <a:off x="640080" y="2377440"/>
            <a:ext cx="3566160" cy="1463040"/>
          </a:xfrm>
          <a:prstGeom prst="rect">
            <a:avLst/>
          </a:prstGeom>
          <a:noFill/>
        </p:spPr>
        <p:txBody>
          <a:bodyPr wrap="square">
            <a:spAutoFit/>
          </a:bodyPr>
          <a:lstStyle/>
          <a:p>
            <a:pPr algn="ctr"/>
            <a:r>
              <a:rPr sz="6000" b="1" i="0">
                <a:solidFill>
                  <a:srgbClr val="9D8DF1"/>
                </a:solidFill>
                <a:latin typeface="Inter"/>
              </a:rPr>
              <a:t>16</a:t>
            </a:r>
          </a:p>
        </p:txBody>
      </p:sp>
      <p:sp>
        <p:nvSpPr>
          <p:cNvPr id="5" name="TextBox 4"/>
          <p:cNvSpPr txBox="1"/>
          <p:nvPr/>
        </p:nvSpPr>
        <p:spPr>
          <a:xfrm>
            <a:off x="640080" y="3840480"/>
            <a:ext cx="3566160" cy="914400"/>
          </a:xfrm>
          <a:prstGeom prst="rect">
            <a:avLst/>
          </a:prstGeom>
          <a:noFill/>
        </p:spPr>
        <p:txBody>
          <a:bodyPr wrap="square">
            <a:spAutoFit/>
          </a:bodyPr>
          <a:lstStyle/>
          <a:p>
            <a:pPr algn="ctr"/>
            <a:r>
              <a:rPr sz="1800" b="0" i="0">
                <a:solidFill>
                  <a:srgbClr val="8A8AA3"/>
                </a:solidFill>
                <a:latin typeface="Inter"/>
              </a:rPr>
              <a:t>Architecture
Decision Records</a:t>
            </a:r>
          </a:p>
        </p:txBody>
      </p:sp>
      <p:sp>
        <p:nvSpPr>
          <p:cNvPr id="6" name="TextBox 5"/>
          <p:cNvSpPr txBox="1"/>
          <p:nvPr/>
        </p:nvSpPr>
        <p:spPr>
          <a:xfrm>
            <a:off x="4297680" y="2377440"/>
            <a:ext cx="3566160" cy="1463040"/>
          </a:xfrm>
          <a:prstGeom prst="rect">
            <a:avLst/>
          </a:prstGeom>
          <a:noFill/>
        </p:spPr>
        <p:txBody>
          <a:bodyPr wrap="square">
            <a:spAutoFit/>
          </a:bodyPr>
          <a:lstStyle/>
          <a:p>
            <a:pPr algn="ctr"/>
            <a:r>
              <a:rPr sz="6000" b="1" i="0">
                <a:solidFill>
                  <a:srgbClr val="F472B6"/>
                </a:solidFill>
                <a:latin typeface="Inter"/>
              </a:rPr>
              <a:t>82</a:t>
            </a:r>
          </a:p>
        </p:txBody>
      </p:sp>
      <p:sp>
        <p:nvSpPr>
          <p:cNvPr id="7" name="TextBox 6"/>
          <p:cNvSpPr txBox="1"/>
          <p:nvPr/>
        </p:nvSpPr>
        <p:spPr>
          <a:xfrm>
            <a:off x="4297680" y="3840480"/>
            <a:ext cx="3566160" cy="914400"/>
          </a:xfrm>
          <a:prstGeom prst="rect">
            <a:avLst/>
          </a:prstGeom>
          <a:noFill/>
        </p:spPr>
        <p:txBody>
          <a:bodyPr wrap="square">
            <a:spAutoFit/>
          </a:bodyPr>
          <a:lstStyle/>
          <a:p>
            <a:pPr algn="ctr"/>
            <a:r>
              <a:rPr sz="1800" b="0" i="0">
                <a:solidFill>
                  <a:srgbClr val="8A8AA3"/>
                </a:solidFill>
                <a:latin typeface="Inter"/>
              </a:rPr>
              <a:t>tickets, each
tied to a requirement</a:t>
            </a:r>
          </a:p>
        </p:txBody>
      </p:sp>
      <p:sp>
        <p:nvSpPr>
          <p:cNvPr id="8" name="TextBox 7"/>
          <p:cNvSpPr txBox="1"/>
          <p:nvPr/>
        </p:nvSpPr>
        <p:spPr>
          <a:xfrm>
            <a:off x="7955280" y="2377440"/>
            <a:ext cx="3566160" cy="1463040"/>
          </a:xfrm>
          <a:prstGeom prst="rect">
            <a:avLst/>
          </a:prstGeom>
          <a:noFill/>
        </p:spPr>
        <p:txBody>
          <a:bodyPr wrap="square">
            <a:spAutoFit/>
          </a:bodyPr>
          <a:lstStyle/>
          <a:p>
            <a:pPr algn="ctr"/>
            <a:r>
              <a:rPr sz="6000" b="1" i="0">
                <a:solidFill>
                  <a:srgbClr val="9D8DF1"/>
                </a:solidFill>
                <a:latin typeface="Inter"/>
              </a:rPr>
              <a:t>~320</a:t>
            </a:r>
          </a:p>
        </p:txBody>
      </p:sp>
      <p:sp>
        <p:nvSpPr>
          <p:cNvPr id="9" name="TextBox 8"/>
          <p:cNvSpPr txBox="1"/>
          <p:nvPr/>
        </p:nvSpPr>
        <p:spPr>
          <a:xfrm>
            <a:off x="7955280" y="3840480"/>
            <a:ext cx="3566160" cy="914400"/>
          </a:xfrm>
          <a:prstGeom prst="rect">
            <a:avLst/>
          </a:prstGeom>
          <a:noFill/>
        </p:spPr>
        <p:txBody>
          <a:bodyPr wrap="square">
            <a:spAutoFit/>
          </a:bodyPr>
          <a:lstStyle/>
          <a:p>
            <a:pPr algn="ctr"/>
            <a:r>
              <a:rPr sz="1800" b="0" i="0">
                <a:solidFill>
                  <a:srgbClr val="8A8AA3"/>
                </a:solidFill>
                <a:latin typeface="Inter"/>
              </a:rPr>
              <a:t>automated
tests</a:t>
            </a:r>
          </a:p>
        </p:txBody>
      </p:sp>
      <p:sp>
        <p:nvSpPr>
          <p:cNvPr id="10" name="TextBox 9"/>
          <p:cNvSpPr txBox="1"/>
          <p:nvPr/>
        </p:nvSpPr>
        <p:spPr>
          <a:xfrm>
            <a:off x="640080" y="5212080"/>
            <a:ext cx="10881360" cy="914400"/>
          </a:xfrm>
          <a:prstGeom prst="rect">
            <a:avLst/>
          </a:prstGeom>
          <a:noFill/>
        </p:spPr>
        <p:txBody>
          <a:bodyPr wrap="square">
            <a:spAutoFit/>
          </a:bodyPr>
          <a:lstStyle/>
          <a:p>
            <a:pPr algn="ctr"/>
            <a:r>
              <a:rPr sz="2000" b="0" i="1">
                <a:solidFill>
                  <a:srgbClr val="EDEDF5"/>
                </a:solidFill>
                <a:latin typeface="Inter"/>
              </a:rPr>
              <a:t>A 3-person team, built to be owned and defended.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1:30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Decide → Scope → Enforce</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Decide  —  every choice is an append-only ADR; we supersede, never edit</a:t>
            </a:r>
          </a:p>
          <a:p>
            <a:pPr>
              <a:spcAft>
                <a:spcPts val="1200"/>
              </a:spcAft>
            </a:pPr>
            <a:r>
              <a:rPr sz="2000" b="1" i="0">
                <a:solidFill>
                  <a:srgbClr val="F472B6"/>
                </a:solidFill>
                <a:latin typeface="Inter"/>
              </a:rPr>
              <a:t>Scope  —  one ticket = one PR, traced to a requirement; no scope creep</a:t>
            </a:r>
          </a:p>
          <a:p>
            <a:pPr>
              <a:spcAft>
                <a:spcPts val="1200"/>
              </a:spcAft>
            </a:pPr>
            <a:r>
              <a:rPr sz="2000" b="1" i="0">
                <a:solidFill>
                  <a:srgbClr val="F472B6"/>
                </a:solidFill>
                <a:latin typeface="Inter"/>
              </a:rPr>
              <a:t>Enforce  —  CI runs tests + a secret scan on every PR</a:t>
            </a:r>
          </a:p>
          <a:p>
            <a:pPr>
              <a:spcAft>
                <a:spcPts val="1200"/>
              </a:spcAft>
            </a:pPr>
            <a:r>
              <a:rPr sz="2000" b="1" i="0">
                <a:solidFill>
                  <a:srgbClr val="F472B6"/>
                </a:solidFill>
                <a:latin typeface="Inter"/>
              </a:rPr>
              <a:t>+ a custom docs-sync gate: change code but not its docs and the build fails</a:t>
            </a:r>
          </a:p>
          <a:p>
            <a:pPr>
              <a:spcAft>
                <a:spcPts val="1200"/>
              </a:spcAft>
            </a:pPr>
            <a:r>
              <a:rPr sz="2000" b="0" i="0">
                <a:solidFill>
                  <a:srgbClr val="EDEDF5"/>
                </a:solidFill>
                <a:latin typeface="Inter"/>
              </a:rPr>
              <a:t>•  You literally cannot merge stale documentation.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Two pivots, one principle</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0" i="0">
                <a:solidFill>
                  <a:srgbClr val="EDEDF5"/>
                </a:solidFill>
                <a:latin typeface="Inter"/>
              </a:rPr>
              <a:t>•  TypeScript / Vercel / Prisma  →  FastAPI / Render   (ADR-0010)</a:t>
            </a:r>
          </a:p>
          <a:p>
            <a:pPr>
              <a:spcAft>
                <a:spcPts val="1200"/>
              </a:spcAft>
            </a:pPr>
            <a:r>
              <a:rPr sz="2000" b="0" i="0">
                <a:solidFill>
                  <a:srgbClr val="EDEDF5"/>
                </a:solidFill>
                <a:latin typeface="Inter"/>
              </a:rPr>
              <a:t>•  React / Vite SPA  →  server-rendered Jinja pages   (ADR-0013)</a:t>
            </a:r>
          </a:p>
          <a:p>
            <a:pPr>
              <a:spcAft>
                <a:spcPts val="1200"/>
              </a:spcAft>
            </a:pPr>
            <a:r>
              <a:rPr sz="2000" b="1" i="0">
                <a:solidFill>
                  <a:srgbClr val="F472B6"/>
                </a:solidFill>
                <a:latin typeface="Inter"/>
              </a:rPr>
              <a:t>Why: security-critical code in a language not all of us could review is a liability</a:t>
            </a:r>
          </a:p>
          <a:p>
            <a:pPr>
              <a:spcAft>
                <a:spcPts val="1200"/>
              </a:spcAft>
            </a:pPr>
            <a:r>
              <a:rPr sz="2000" b="0" i="0">
                <a:solidFill>
                  <a:srgbClr val="EDEDF5"/>
                </a:solidFill>
                <a:latin typeface="Inter"/>
              </a:rPr>
              <a:t>•  End state: one Python codebase every one of us can read, review, and defend.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Architecture at a glance</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0" i="0">
                <a:solidFill>
                  <a:srgbClr val="EDEDF5"/>
                </a:solidFill>
                <a:latin typeface="Inter"/>
              </a:rPr>
              <a:t>•  One FastAPI app on Render serves the JSON API AND the HTML pages — same-origin, no CORS</a:t>
            </a:r>
          </a:p>
          <a:p>
            <a:pPr>
              <a:spcAft>
                <a:spcPts val="1200"/>
              </a:spcAft>
            </a:pPr>
            <a:r>
              <a:rPr sz="2000" b="0" i="0">
                <a:solidFill>
                  <a:srgbClr val="EDEDF5"/>
                </a:solidFill>
                <a:latin typeface="Inter"/>
              </a:rPr>
              <a:t>•  Supabase provides Postgres, Auth, and Storage</a:t>
            </a:r>
          </a:p>
          <a:p>
            <a:pPr>
              <a:spcAft>
                <a:spcPts val="1200"/>
              </a:spcAft>
            </a:pPr>
            <a:r>
              <a:rPr sz="2000" b="0" i="0">
                <a:solidFill>
                  <a:srgbClr val="EDEDF5"/>
                </a:solidFill>
                <a:latin typeface="Inter"/>
              </a:rPr>
              <a:t>•  We own long-term Spotify access via an encrypted stored refresh token</a:t>
            </a:r>
          </a:p>
          <a:p>
            <a:pPr>
              <a:spcAft>
                <a:spcPts val="1200"/>
              </a:spcAft>
            </a:pPr>
            <a:r>
              <a:rPr sz="2000" b="0" i="0">
                <a:solidFill>
                  <a:srgbClr val="EDEDF5"/>
                </a:solidFill>
                <a:latin typeface="Inter"/>
              </a:rPr>
              <a:t>•  A nightly Python analytics job trains the model and writes results the app reads live</a:t>
            </a:r>
          </a:p>
          <a:p>
            <a:pPr>
              <a:spcAft>
                <a:spcPts val="1200"/>
              </a:spcAft>
            </a:pPr>
            <a:r>
              <a:rPr sz="2000" b="0" i="0">
                <a:solidFill>
                  <a:srgbClr val="EDEDF5"/>
                </a:solidFill>
                <a:latin typeface="Inter"/>
              </a:rPr>
              <a:t>•  Simple, cheap, entirely on free tiers.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The data model  (~14 tables)</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Social (public):  User · Post · Reaction · Comment · Follow · ArtistPost</a:t>
            </a:r>
          </a:p>
          <a:p>
            <a:pPr>
              <a:spcAft>
                <a:spcPts val="1200"/>
              </a:spcAft>
            </a:pPr>
            <a:r>
              <a:rPr sz="2000" b="1" i="0">
                <a:solidFill>
                  <a:srgbClr val="F472B6"/>
                </a:solidFill>
                <a:latin typeface="Inter"/>
              </a:rPr>
              <a:t>Analytics (medallion):  silver.Track · silver.Play · gold.Cluster · gold.ModelArtifact · bronze.*_raw</a:t>
            </a:r>
          </a:p>
          <a:p>
            <a:pPr>
              <a:spcAft>
                <a:spcPts val="1200"/>
              </a:spcAft>
            </a:pPr>
            <a:r>
              <a:rPr sz="2000" b="0" i="0">
                <a:solidFill>
                  <a:srgbClr val="EDEDF5"/>
                </a:solidFill>
                <a:latin typeface="Inter"/>
              </a:rPr>
              <a:t>•  A user's cluster &amp; compatibility aren't stored — they're computed on read, so never stale.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ANDREA · 0:45</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Auth &amp; security</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Server-side JWT validation — we never hold a JWT secret</a:t>
            </a:r>
          </a:p>
          <a:p>
            <a:pPr>
              <a:spcAft>
                <a:spcPts val="1200"/>
              </a:spcAft>
            </a:pPr>
            <a:r>
              <a:rPr sz="2000" b="1" i="0">
                <a:solidFill>
                  <a:srgbClr val="F472B6"/>
                </a:solidFill>
                <a:latin typeface="Inter"/>
              </a:rPr>
              <a:t>Spotify tokens encrypted at rest — AES-256-GCM</a:t>
            </a:r>
          </a:p>
          <a:p>
            <a:pPr>
              <a:spcAft>
                <a:spcPts val="1200"/>
              </a:spcAft>
            </a:pPr>
            <a:r>
              <a:rPr sz="2000" b="1" i="0">
                <a:solidFill>
                  <a:srgbClr val="F472B6"/>
                </a:solidFill>
                <a:latin typeface="Inter"/>
              </a:rPr>
              <a:t>Per-user rate limiting + secret-scanning in CI and pre-commit</a:t>
            </a:r>
          </a:p>
          <a:p>
            <a:pPr>
              <a:spcAft>
                <a:spcPts val="1200"/>
              </a:spcAft>
            </a:pPr>
            <a:r>
              <a:rPr sz="2000" b="0" i="0">
                <a:solidFill>
                  <a:srgbClr val="EDEDF5"/>
                </a:solidFill>
                <a:latin typeface="Inter"/>
              </a:rPr>
              <a:t>•  Security was the reason for the Python pivot — so we take it seriously.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JONAH · 1:15</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The data engineering: a medallion</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Bronze  —  raw, immutable landings (Spotify pulls, raw Kaggle rows)</a:t>
            </a:r>
          </a:p>
          <a:p>
            <a:pPr>
              <a:spcAft>
                <a:spcPts val="1200"/>
              </a:spcAft>
            </a:pPr>
            <a:r>
              <a:rPr sz="2000" b="1" i="0">
                <a:solidFill>
                  <a:srgbClr val="F472B6"/>
                </a:solidFill>
                <a:latin typeface="Inter"/>
              </a:rPr>
              <a:t>Silver  —  cleaned, conformed data the app uses (Track, Play)</a:t>
            </a:r>
          </a:p>
          <a:p>
            <a:pPr>
              <a:spcAft>
                <a:spcPts val="1200"/>
              </a:spcAft>
            </a:pPr>
            <a:r>
              <a:rPr sz="2000" b="1" i="0">
                <a:solidFill>
                  <a:srgbClr val="F472B6"/>
                </a:solidFill>
                <a:latin typeface="Inter"/>
              </a:rPr>
              <a:t>Gold  —  model output (clusters, metrics, the trained model itself)</a:t>
            </a:r>
          </a:p>
          <a:p>
            <a:pPr>
              <a:spcAft>
                <a:spcPts val="1200"/>
              </a:spcAft>
            </a:pPr>
            <a:r>
              <a:rPr sz="2000" b="0" i="0">
                <a:solidFill>
                  <a:srgbClr val="EDEDF5"/>
                </a:solidFill>
                <a:latin typeface="Inter"/>
              </a:rPr>
              <a:t>•  All on free Postgres — no Spark, no lakehouse. Right-sized, with legible lineage.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JONAH · 1:30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The ML: K-means + on-read inference</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Offline:  K-means on ~1.2M tracks × 10 audio features → 7 taste communities</a:t>
            </a:r>
          </a:p>
          <a:p>
            <a:pPr>
              <a:spcAft>
                <a:spcPts val="1200"/>
              </a:spcAft>
            </a:pPr>
            <a:r>
              <a:rPr sz="2000" b="0" i="0">
                <a:solidFill>
                  <a:srgbClr val="EDEDF5"/>
                </a:solidFill>
                <a:latin typeface="Inter"/>
              </a:rPr>
              <a:t>•  It exports a self-describing model artifact (centroids + scaler) into gold</a:t>
            </a:r>
          </a:p>
          <a:p>
            <a:pPr>
              <a:spcAft>
                <a:spcPts val="1200"/>
              </a:spcAft>
            </a:pPr>
            <a:r>
              <a:rPr sz="2000" b="1" i="0">
                <a:solidFill>
                  <a:srgbClr val="F472B6"/>
                </a:solidFill>
                <a:latin typeface="Inter"/>
              </a:rPr>
              <a:t>On read:  build a user's taste vector → nearest community → cosine compatibility</a:t>
            </a:r>
          </a:p>
          <a:p>
            <a:pPr>
              <a:spcAft>
                <a:spcPts val="1200"/>
              </a:spcAft>
            </a:pPr>
            <a:r>
              <a:rPr sz="2000" b="0" i="0">
                <a:solidFill>
                  <a:srgbClr val="EDEDF5"/>
                </a:solidFill>
                <a:latin typeface="Inter"/>
              </a:rPr>
              <a:t>•  Nothing is hardcoded — the app reads whatever the last training run produced.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JONAH · 0:45</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Honesty about the limits</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Forced k=7  —  the math preferred k=2; a persona feature needs more, so we disclose it</a:t>
            </a:r>
          </a:p>
          <a:p>
            <a:pPr>
              <a:spcAft>
                <a:spcPts val="1200"/>
              </a:spcAft>
            </a:pPr>
            <a:r>
              <a:rPr sz="2000" b="1" i="0">
                <a:solidFill>
                  <a:srgbClr val="F472B6"/>
                </a:solidFill>
                <a:latin typeface="Inter"/>
              </a:rPr>
              <a:t>~24% dataset coverage  —  logged, not hidden</a:t>
            </a:r>
          </a:p>
          <a:p>
            <a:pPr>
              <a:spcAft>
                <a:spcPts val="1200"/>
              </a:spcAft>
            </a:pPr>
            <a:r>
              <a:rPr sz="2000" b="1" i="0">
                <a:solidFill>
                  <a:srgbClr val="F472B6"/>
                </a:solidFill>
                <a:latin typeface="Inter"/>
              </a:rPr>
              <a:t>Second model (popularity) CUT  —  ADR-0016: no dataset supported it honestly</a:t>
            </a:r>
          </a:p>
          <a:p>
            <a:pPr>
              <a:spcAft>
                <a:spcPts val="1200"/>
              </a:spcAft>
            </a:pPr>
            <a:r>
              <a:rPr sz="2000" b="0" i="0">
                <a:solidFill>
                  <a:srgbClr val="EDEDF5"/>
                </a:solidFill>
                <a:latin typeface="Inter"/>
              </a:rPr>
              <a:t>•  Cutting it cleanly was the right engineering 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SEBASTIAN · 1:00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One theme, five pages</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0" i="0">
                <a:solidFill>
                  <a:srgbClr val="EDEDF5"/>
                </a:solidFill>
                <a:latin typeface="Inter"/>
              </a:rPr>
              <a:t>•  Server-rendered pages — no separate JS app to build; lightweight JS calls the same API</a:t>
            </a:r>
          </a:p>
          <a:p>
            <a:pPr>
              <a:spcAft>
                <a:spcPts val="1200"/>
              </a:spcAft>
            </a:pPr>
            <a:r>
              <a:rPr sz="2000" b="0" i="0">
                <a:solidFill>
                  <a:srgbClr val="EDEDF5"/>
                </a:solidFill>
                <a:latin typeface="Inter"/>
              </a:rPr>
              <a:t>•  Dark, quiet, music-native — a lavender &amp; hot-pink accent throughout</a:t>
            </a:r>
          </a:p>
          <a:p>
            <a:pPr>
              <a:spcAft>
                <a:spcPts val="1200"/>
              </a:spcAft>
            </a:pPr>
            <a:r>
              <a:rPr sz="2000" b="1" i="0">
                <a:solidFill>
                  <a:srgbClr val="F472B6"/>
                </a:solidFill>
                <a:latin typeface="Inter"/>
              </a:rPr>
              <a:t>Landing · Feed · Profile · Artist studio · Analytics</a:t>
            </a:r>
          </a:p>
          <a:p>
            <a:pPr>
              <a:spcAft>
                <a:spcPts val="1200"/>
              </a:spcAft>
            </a:pPr>
            <a:r>
              <a:rPr sz="2000" b="0" i="0">
                <a:solidFill>
                  <a:srgbClr val="EDEDF5"/>
                </a:solidFill>
                <a:latin typeface="Inter"/>
              </a:rPr>
              <a:t>•  Fast to load, consistent, and simple for a small team to maintain.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SEBASTIAN · 0:45</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The social details</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Play-in-place  —  tap album art, a Spotify player opens in the card</a:t>
            </a:r>
          </a:p>
          <a:p>
            <a:pPr>
              <a:spcAft>
                <a:spcPts val="1200"/>
              </a:spcAft>
            </a:pPr>
            <a:r>
              <a:rPr sz="2000" b="1" i="0">
                <a:solidFill>
                  <a:srgbClr val="F472B6"/>
                </a:solidFill>
                <a:latin typeface="Inter"/>
              </a:rPr>
              <a:t>Liked by X and N others  ·  double-tap-to-heart</a:t>
            </a:r>
          </a:p>
          <a:p>
            <a:pPr>
              <a:spcAft>
                <a:spcPts val="1200"/>
              </a:spcAft>
            </a:pPr>
            <a:r>
              <a:rPr sz="2000" b="1" i="0">
                <a:solidFill>
                  <a:srgbClr val="F472B6"/>
                </a:solidFill>
                <a:latin typeface="Inter"/>
              </a:rPr>
              <a:t>One-tap 'share what you're hearing'  —  reads your current track from Spotify</a:t>
            </a:r>
          </a:p>
          <a:p>
            <a:pPr>
              <a:spcAft>
                <a:spcPts val="1200"/>
              </a:spcAft>
            </a:pPr>
            <a:r>
              <a:rPr sz="2000" b="0" i="0">
                <a:solidFill>
                  <a:srgbClr val="EDEDF5"/>
                </a:solidFill>
                <a:latin typeface="Inter"/>
              </a:rPr>
              <a:t>•  Every empty state has a friendly nudge, not a blank screen.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SEBASTIAN drives · Jonah + Andrea narrate · 2:30</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Live demo</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0" i="0">
                <a:solidFill>
                  <a:srgbClr val="EDEDF5"/>
                </a:solidFill>
                <a:latin typeface="Inter"/>
              </a:rPr>
              <a:t>•  brink-xg7p.onrender.com</a:t>
            </a:r>
          </a:p>
          <a:p>
            <a:pPr>
              <a:spcAft>
                <a:spcPts val="1200"/>
              </a:spcAft>
            </a:pPr>
            <a:r>
              <a:rPr sz="2000" b="0" i="0">
                <a:solidFill>
                  <a:srgbClr val="EDEDF5"/>
                </a:solidFill>
                <a:latin typeface="Inter"/>
              </a:rPr>
              <a:t>•  1.  Feed — scroll, tap art to play in place, react + comment</a:t>
            </a:r>
          </a:p>
          <a:p>
            <a:pPr>
              <a:spcAft>
                <a:spcPts val="1200"/>
              </a:spcAft>
            </a:pPr>
            <a:r>
              <a:rPr sz="2000" b="0" i="0">
                <a:solidFill>
                  <a:srgbClr val="EDEDF5"/>
                </a:solidFill>
                <a:latin typeface="Inter"/>
              </a:rPr>
              <a:t>•  2.  Share — 'share what you're hearing', post a real track</a:t>
            </a:r>
          </a:p>
          <a:p>
            <a:pPr>
              <a:spcAft>
                <a:spcPts val="1200"/>
              </a:spcAft>
            </a:pPr>
            <a:r>
              <a:rPr sz="2000" b="0" i="0">
                <a:solidFill>
                  <a:srgbClr val="EDEDF5"/>
                </a:solidFill>
                <a:latin typeface="Inter"/>
              </a:rPr>
              <a:t>•  3.  Profile — taste community + % compatible (Andrea narrates)</a:t>
            </a:r>
          </a:p>
          <a:p>
            <a:pPr>
              <a:spcAft>
                <a:spcPts val="1200"/>
              </a:spcAft>
            </a:pPr>
            <a:r>
              <a:rPr sz="2000" b="0" i="0">
                <a:solidFill>
                  <a:srgbClr val="EDEDF5"/>
                </a:solidFill>
                <a:latin typeface="Inter"/>
              </a:rPr>
              <a:t>•  4.  Analytics — 7 tribes, distinctness, audio DNA (Jonah narrates)</a:t>
            </a:r>
          </a:p>
          <a:p>
            <a:pPr>
              <a:spcAft>
                <a:spcPts val="1200"/>
              </a:spcAft>
            </a:pPr>
            <a:r>
              <a:rPr sz="2000" b="0" i="0">
                <a:solidFill>
                  <a:srgbClr val="EDEDF5"/>
                </a:solidFill>
                <a:latin typeface="Inter"/>
              </a:rPr>
              <a:t>•  5.  (Optional) Artist studio — a behind-the-scenes post</a:t>
            </a:r>
          </a:p>
          <a:p>
            <a:pPr>
              <a:spcAft>
                <a:spcPts val="1200"/>
              </a:spcAft>
            </a:pPr>
            <a:r>
              <a:rPr sz="2000" b="1" i="0">
                <a:solidFill>
                  <a:srgbClr val="F472B6"/>
                </a:solidFill>
                <a:latin typeface="Inter"/>
              </a:rPr>
              <a:t>Warm the Render instance first. Screenshots on next slides are the fallback.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320040"/>
            <a:ext cx="10881360" cy="548640"/>
          </a:xfrm>
          <a:prstGeom prst="rect">
            <a:avLst/>
          </a:prstGeom>
          <a:noFill/>
        </p:spPr>
        <p:txBody>
          <a:bodyPr wrap="square">
            <a:spAutoFit/>
          </a:bodyPr>
          <a:lstStyle/>
          <a:p>
            <a:r>
              <a:rPr sz="1800" b="1" i="0">
                <a:solidFill>
                  <a:srgbClr val="9D8DF1"/>
                </a:solidFill>
                <a:latin typeface="Inter"/>
              </a:rPr>
              <a:t>Landing — sign in; your listening becomes the feed</a:t>
            </a:r>
          </a:p>
        </p:txBody>
      </p:sp>
      <p:pic>
        <p:nvPicPr>
          <p:cNvPr id="3" name="Picture 2" descr="Landing-brink.png"/>
          <p:cNvPicPr>
            <a:picLocks noChangeAspect="1"/>
          </p:cNvPicPr>
          <p:nvPr/>
        </p:nvPicPr>
        <p:blipFill>
          <a:blip r:embed="rId2"/>
          <a:stretch>
            <a:fillRect/>
          </a:stretch>
        </p:blipFill>
        <p:spPr>
          <a:xfrm>
            <a:off x="4163379" y="1005840"/>
            <a:ext cx="3864937" cy="53949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320040"/>
            <a:ext cx="10881360" cy="548640"/>
          </a:xfrm>
          <a:prstGeom prst="rect">
            <a:avLst/>
          </a:prstGeom>
          <a:noFill/>
        </p:spPr>
        <p:txBody>
          <a:bodyPr wrap="square">
            <a:spAutoFit/>
          </a:bodyPr>
          <a:lstStyle/>
          <a:p>
            <a:r>
              <a:rPr sz="1800" b="1" i="0">
                <a:solidFill>
                  <a:srgbClr val="9D8DF1"/>
                </a:solidFill>
                <a:latin typeface="Inter"/>
              </a:rPr>
              <a:t>Feed — songs play in place, with reactions &amp; comments</a:t>
            </a:r>
          </a:p>
        </p:txBody>
      </p:sp>
      <p:pic>
        <p:nvPicPr>
          <p:cNvPr id="3" name="Picture 2" descr="Feed-brink.png"/>
          <p:cNvPicPr>
            <a:picLocks noChangeAspect="1"/>
          </p:cNvPicPr>
          <p:nvPr/>
        </p:nvPicPr>
        <p:blipFill>
          <a:blip r:embed="rId2"/>
          <a:stretch>
            <a:fillRect/>
          </a:stretch>
        </p:blipFill>
        <p:spPr>
          <a:xfrm>
            <a:off x="4082399" y="1005840"/>
            <a:ext cx="4026897" cy="53949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320040"/>
            <a:ext cx="10881360" cy="548640"/>
          </a:xfrm>
          <a:prstGeom prst="rect">
            <a:avLst/>
          </a:prstGeom>
          <a:noFill/>
        </p:spPr>
        <p:txBody>
          <a:bodyPr wrap="square">
            <a:spAutoFit/>
          </a:bodyPr>
          <a:lstStyle/>
          <a:p>
            <a:r>
              <a:rPr sz="1800" b="1" i="0">
                <a:solidFill>
                  <a:srgbClr val="9D8DF1"/>
                </a:solidFill>
                <a:latin typeface="Inter"/>
              </a:rPr>
              <a:t>Profile — taste community + % compatible</a:t>
            </a:r>
          </a:p>
        </p:txBody>
      </p:sp>
      <p:pic>
        <p:nvPicPr>
          <p:cNvPr id="3" name="Picture 2" descr="Profile-brink.png"/>
          <p:cNvPicPr>
            <a:picLocks noChangeAspect="1"/>
          </p:cNvPicPr>
          <p:nvPr/>
        </p:nvPicPr>
        <p:blipFill>
          <a:blip r:embed="rId2"/>
          <a:stretch>
            <a:fillRect/>
          </a:stretch>
        </p:blipFill>
        <p:spPr>
          <a:xfrm>
            <a:off x="4185132" y="1005840"/>
            <a:ext cx="3821430" cy="53949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320040"/>
            <a:ext cx="10881360" cy="548640"/>
          </a:xfrm>
          <a:prstGeom prst="rect">
            <a:avLst/>
          </a:prstGeom>
          <a:noFill/>
        </p:spPr>
        <p:txBody>
          <a:bodyPr wrap="square">
            <a:spAutoFit/>
          </a:bodyPr>
          <a:lstStyle/>
          <a:p>
            <a:r>
              <a:rPr sz="1800" b="1" i="0">
                <a:solidFill>
                  <a:srgbClr val="9D8DF1"/>
                </a:solidFill>
                <a:latin typeface="Inter"/>
              </a:rPr>
              <a:t>Artist studio — behind-the-scenes posts</a:t>
            </a:r>
          </a:p>
        </p:txBody>
      </p:sp>
      <p:pic>
        <p:nvPicPr>
          <p:cNvPr id="3" name="Picture 2" descr="artist-brink.png"/>
          <p:cNvPicPr>
            <a:picLocks noChangeAspect="1"/>
          </p:cNvPicPr>
          <p:nvPr/>
        </p:nvPicPr>
        <p:blipFill>
          <a:blip r:embed="rId2"/>
          <a:stretch>
            <a:fillRect/>
          </a:stretch>
        </p:blipFill>
        <p:spPr>
          <a:xfrm>
            <a:off x="4207245" y="1005840"/>
            <a:ext cx="3777204" cy="5394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320040"/>
            <a:ext cx="10881360" cy="548640"/>
          </a:xfrm>
          <a:prstGeom prst="rect">
            <a:avLst/>
          </a:prstGeom>
          <a:noFill/>
        </p:spPr>
        <p:txBody>
          <a:bodyPr wrap="square">
            <a:spAutoFit/>
          </a:bodyPr>
          <a:lstStyle/>
          <a:p>
            <a:r>
              <a:rPr sz="1800" b="1" i="0">
                <a:solidFill>
                  <a:srgbClr val="9D8DF1"/>
                </a:solidFill>
                <a:latin typeface="Inter"/>
              </a:rPr>
              <a:t>Analytics — real model output: tribes &amp; audio DNA</a:t>
            </a:r>
          </a:p>
        </p:txBody>
      </p:sp>
      <p:pic>
        <p:nvPicPr>
          <p:cNvPr id="3" name="Picture 2" descr="analytics-brink.png"/>
          <p:cNvPicPr>
            <a:picLocks noChangeAspect="1"/>
          </p:cNvPicPr>
          <p:nvPr/>
        </p:nvPicPr>
        <p:blipFill>
          <a:blip r:embed="rId2"/>
          <a:stretch>
            <a:fillRect/>
          </a:stretch>
        </p:blipFill>
        <p:spPr>
          <a:xfrm>
            <a:off x="4172711" y="1005840"/>
            <a:ext cx="3846272" cy="53949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TextBox 1"/>
          <p:cNvSpPr txBox="1"/>
          <p:nvPr/>
        </p:nvSpPr>
        <p:spPr>
          <a:xfrm>
            <a:off x="640080" y="457200"/>
            <a:ext cx="10881360" cy="365760"/>
          </a:xfrm>
          <a:prstGeom prst="rect">
            <a:avLst/>
          </a:prstGeom>
          <a:noFill/>
        </p:spPr>
        <p:txBody>
          <a:bodyPr wrap="square">
            <a:spAutoFit/>
          </a:bodyPr>
          <a:lstStyle/>
          <a:p>
            <a:r>
              <a:rPr sz="1300" b="1" i="0">
                <a:solidFill>
                  <a:srgbClr val="8A8AA3"/>
                </a:solidFill>
                <a:latin typeface="Inter"/>
              </a:rPr>
              <a:t>ALL · 0:45</a:t>
            </a:r>
          </a:p>
        </p:txBody>
      </p:sp>
      <p:sp>
        <p:nvSpPr>
          <p:cNvPr id="3" name="TextBox 2"/>
          <p:cNvSpPr txBox="1"/>
          <p:nvPr/>
        </p:nvSpPr>
        <p:spPr>
          <a:xfrm>
            <a:off x="640080" y="868680"/>
            <a:ext cx="10881360" cy="1188720"/>
          </a:xfrm>
          <a:prstGeom prst="rect">
            <a:avLst/>
          </a:prstGeom>
          <a:noFill/>
        </p:spPr>
        <p:txBody>
          <a:bodyPr wrap="square">
            <a:spAutoFit/>
          </a:bodyPr>
          <a:lstStyle/>
          <a:p>
            <a:r>
              <a:rPr sz="3400" b="1" i="0">
                <a:solidFill>
                  <a:srgbClr val="9D8DF1"/>
                </a:solidFill>
                <a:latin typeface="Inter"/>
              </a:rPr>
              <a:t>What we learned</a:t>
            </a:r>
          </a:p>
        </p:txBody>
      </p:sp>
      <p:sp>
        <p:nvSpPr>
          <p:cNvPr id="4" name="Rectangle 3"/>
          <p:cNvSpPr/>
          <p:nvPr/>
        </p:nvSpPr>
        <p:spPr>
          <a:xfrm>
            <a:off x="658368" y="1965960"/>
            <a:ext cx="1463040" cy="38100"/>
          </a:xfrm>
          <a:prstGeom prst="rect">
            <a:avLst/>
          </a:prstGeom>
          <a:solidFill>
            <a:srgbClr val="9D8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331720"/>
            <a:ext cx="10881360" cy="4023360"/>
          </a:xfrm>
          <a:prstGeom prst="rect">
            <a:avLst/>
          </a:prstGeom>
          <a:noFill/>
        </p:spPr>
        <p:txBody>
          <a:bodyPr wrap="square">
            <a:spAutoFit/>
          </a:bodyPr>
          <a:lstStyle/>
          <a:p>
            <a:pPr>
              <a:spcAft>
                <a:spcPts val="1200"/>
              </a:spcAft>
            </a:pPr>
            <a:r>
              <a:rPr sz="2000" b="1" i="0">
                <a:solidFill>
                  <a:srgbClr val="F472B6"/>
                </a:solidFill>
                <a:latin typeface="Inter"/>
              </a:rPr>
              <a:t>Pivot early when you can't defend a choice  (Andrea)</a:t>
            </a:r>
          </a:p>
          <a:p>
            <a:pPr>
              <a:spcAft>
                <a:spcPts val="1200"/>
              </a:spcAft>
            </a:pPr>
            <a:r>
              <a:rPr sz="2000" b="1" i="0">
                <a:solidFill>
                  <a:srgbClr val="F472B6"/>
                </a:solidFill>
                <a:latin typeface="Inter"/>
              </a:rPr>
              <a:t>Disclose limits, don't hide them — it made the analytics more credible  (Jonah)</a:t>
            </a:r>
          </a:p>
          <a:p>
            <a:pPr>
              <a:spcAft>
                <a:spcPts val="1200"/>
              </a:spcAft>
            </a:pPr>
            <a:r>
              <a:rPr sz="2000" b="1" i="0">
                <a:solidFill>
                  <a:srgbClr val="F472B6"/>
                </a:solidFill>
                <a:latin typeface="Inter"/>
              </a:rPr>
              <a:t>One codebase + one theme let 3 people move fast without collisions  (Sebastian)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B12"/>
        </a:solidFill>
        <a:effectLst/>
      </p:bgPr>
    </p:bg>
    <p:spTree>
      <p:nvGrpSpPr>
        <p:cNvPr id="1" name=""/>
        <p:cNvGrpSpPr/>
        <p:nvPr/>
      </p:nvGrpSpPr>
      <p:grpSpPr/>
      <p:sp>
        <p:nvSpPr>
          <p:cNvPr id="2" name="Rectangle 1"/>
          <p:cNvSpPr/>
          <p:nvPr/>
        </p:nvSpPr>
        <p:spPr>
          <a:xfrm>
            <a:off x="822960" y="2331720"/>
            <a:ext cx="2194560" cy="635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1463040"/>
          </a:xfrm>
          <a:prstGeom prst="rect">
            <a:avLst/>
          </a:prstGeom>
          <a:noFill/>
        </p:spPr>
        <p:txBody>
          <a:bodyPr wrap="square">
            <a:spAutoFit/>
          </a:bodyPr>
          <a:lstStyle/>
          <a:p>
            <a:r>
              <a:rPr sz="5200" b="1" i="0">
                <a:solidFill>
                  <a:srgbClr val="EDEDF5"/>
                </a:solidFill>
                <a:latin typeface="Inter"/>
              </a:rPr>
              <a:t>Brink — Music, but social. 🎶</a:t>
            </a:r>
          </a:p>
        </p:txBody>
      </p:sp>
      <p:sp>
        <p:nvSpPr>
          <p:cNvPr id="4" name="TextBox 3"/>
          <p:cNvSpPr txBox="1"/>
          <p:nvPr/>
        </p:nvSpPr>
        <p:spPr>
          <a:xfrm>
            <a:off x="822960" y="3794760"/>
            <a:ext cx="10515600" cy="914400"/>
          </a:xfrm>
          <a:prstGeom prst="rect">
            <a:avLst/>
          </a:prstGeom>
          <a:noFill/>
        </p:spPr>
        <p:txBody>
          <a:bodyPr wrap="square">
            <a:spAutoFit/>
          </a:bodyPr>
          <a:lstStyle/>
          <a:p>
            <a:r>
              <a:rPr sz="2400" b="1" i="0">
                <a:solidFill>
                  <a:srgbClr val="9D8DF1"/>
                </a:solidFill>
                <a:latin typeface="Inter"/>
              </a:rPr>
              <a:t>Thank you — questions?</a:t>
            </a:r>
          </a:p>
        </p:txBody>
      </p:sp>
      <p:sp>
        <p:nvSpPr>
          <p:cNvPr id="5" name="TextBox 4"/>
          <p:cNvSpPr txBox="1"/>
          <p:nvPr/>
        </p:nvSpPr>
        <p:spPr>
          <a:xfrm>
            <a:off x="822960" y="4754880"/>
            <a:ext cx="10515600" cy="1280160"/>
          </a:xfrm>
          <a:prstGeom prst="rect">
            <a:avLst/>
          </a:prstGeom>
          <a:noFill/>
        </p:spPr>
        <p:txBody>
          <a:bodyPr wrap="square">
            <a:spAutoFit/>
          </a:bodyPr>
          <a:lstStyle/>
          <a:p>
            <a:r>
              <a:rPr sz="1600" b="0" i="0">
                <a:solidFill>
                  <a:srgbClr val="8A8AA3"/>
                </a:solidFill>
                <a:latin typeface="Inter"/>
              </a:rPr>
              <a:t>brink-xg7p.onrender.com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