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(0:20): Hi everyone — this is Brink. It's a social app built around the music you actually listen to on Spotify. I worked on the backend, Jonah did the analytics, and Sebastian did the frontend. It's deployed and running, so we'll show you the real thing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(1:00): The starting point was simple. On most social apps, what you post is a choice — you show the version of yourself you want people to see. Your listening history is different: it's just what you actually played. We thought that was a more honest thing to build a feed around. So on Brink you share the songs you're really listening to, people react and comment, and then we use that listening data to figure out whose taste actually lines up with yours.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(1:00): Concretely, Brink is four things. A feed of songs that play right there in the card, with reactions and comments. A taste community for each person — a group our model puts you in. A compatibility score between any two people. And a small artist portal. It's all one live app, and everything we set out to build is built. But the part we actually want to talk about is how three of us built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(1:30): Honestly, one of our real goals on this project was to see how far we could get by leaning on AI coding agents — to build as much as we possibly could as a team of three. And what we learned early is that AI is only as good as the context you give it. If you're vague, you get vague. So the whole job became two things: give the agents as much context as possible, and be really precise about exactly what we wanted built. That's why our first couple of weeks weren't spent writing app code at all — we were setting up what we call our ADRs, our tickets, and our project governance. That planning is what made everything afterwards move fast.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(1:30): So what does that scaffolding actually look like. ADRs are architecture decision records — every real decision written down with the reasoning behind it, so anyone picking up the work, an agent or one of us, knows why things are the way they are. Tickets break the work into one clear piece at a time, so the agent builds exactly that and nothing else. And governance is the guardrails — every change is a pull request, tests and a secret-scanner run automatically, and we even have a check that fails if you change code without updating its docs. All of that is context and clarity — which is exactly what the agents needed to be useful.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(1:00): There were two moments where we changed our minds, and they're worth sharing because the reasoning was the same both times. We started the backend in TypeScript and the frontend as a separate React app. But the security-sensitive parts — logins, encrypting people's tokens — were in a stack not all three of us could confidently read. For a graded project, that's a real risk. So we moved the backend to Python, and later replaced the React app with simpler server-rendered pages. Now it's one Python codebase all of us can read and defend. Both of those are written up as ADRs, so you can see the reasoning.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(1:00): Here's how it all fits together. Everything the user touches is one app — a FastAPI service on Render that serves both the web pages and the API, so there's no separate frontend to deploy. It talks to Supabase for the database, logins, and file storage. Off to the side, a Python job runs every night on GitHub Actions, trains our model, and writes the results into the database — and the app just reads those results when someone loads a page. And Spotify is where the logins and the listening data come from.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(0:50): Behind it is about 14 tables. The social side is what you'd expect — users, posts, reactions, comments, who follows whom. The music side holds the tracks, everyone's plays, and the taste communities the model produces. One thing we're a little proud of: a person's community and their compatibility with you aren't saved anywhere — we work them out on the spot when you load the page, so they're never out of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(0:45): On security — we validate every login on our own server and never hold a master secret. The tokens we keep for Spotify are encrypted before they ever touch the database. There are limits on how fast anyone can post, and a scanner runs on every single commit to make sure we never accidentally check in a password or key. Security was the reason we moved to Python in the first place, so we didn't cut corners here. I'll hand over to Jonah for the analytics.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JONAH (1:15): The data side is organised in three layers — people call it a medallion. The first layer is raw: everything exactly as it arrives, the Spotify listening pulls and the raw dataset rows. The second is that data cleaned up into the tables the app actually uses. And the third is the output of our model — the communities and the model itself. It's a common data-engineering pattern, and honestly at our scale it's a little more structure than we strictly needed — but it keeps everything traceable, and it's the right way to do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JONAH (1:30): The model is in two parts. Once a night, we train a clustering model on about 1.2 million songs, using audio features like how danceable or energetic or upbeat a track is — that sorts songs into seven taste communities. Then, when you actually open someone's profile, we take the songs they've played, place them against those communities, and find where they fit. Compatibility between two people is just how close their two taste profiles are. And nothing is hard-coded — if we retrain the model tonight, the app picks up the new version tomorrow. This page is that model's output, live.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JONAH (0:45): We also want to be upfront about the limits, because we think that matters. The math actually suggested only two groups was cleanest — but two isn't very interesting as 'communities,' so we chose seven on purpose, and we say that openly. Only about a quarter of songs matched our dataset, and we report that honestly rather than hiding it. And we'd planned a second model to predict song popularity, but the data just couldn't support it honestly, so we cut it — and wrote down why. We'd rather show you the real picture than a polished one. Sebastian will show where all this shows up in the app.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SEBASTIAN (1:00): The whole frontend has one consistent look — dark, calm, music-first, with a lavender-and-pink accent. There are five pages: the landing page, the feed, profiles, an artist studio, and the analytics page. There's no separate app to build — the pages come straight from the same server, with just a bit of JavaScript for the interactive parts. That kept everything fast to load and simple for a small team to keep up with.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SEBASTIAN (0:45): The small touches are what make it feel like a real social app. Tap the album art and a Spotify player opens right there in the card. There's a 'liked by' line, and you can double-tap to heart a song like you'd expect. There's a one-tap button to share whatever you're playing right now. And every empty screen — no posts yet, nothing playing — has a friendly nudge instead of a blank space. Let me just show you the real 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SEBASTIAN drives (~2:30). Pre-warm the site so there's no wait. 1) Feed: 'this is the live app' — scroll, tap album art so a song plays in the card, react and drop a comment. 2) Share: use the one-tap 'share what you're playing' and post it. 3) Profile (Andrea narrates): open someone else's profile — their streak, top tracks, their taste community, and since it's not me, a compatibility score, all worked out live. 4) Analytics (Jonah narrates): the seven communities, how distinct they are, and each one's audio DNA — real numbers from last night's run. IF ANYTHING BREAKS: switch to the screenshots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backup / reference: Landing — sign in; your listening becomes the feed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backup / reference: Feed — songs play in place, with reactions &amp; comments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backup / reference: Profile — taste community + how compatible you are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backup / reference: Artist studio — behind-the-scenes posts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backup / reference: Analytics — the model's real output: communities &amp; audio DNA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(0:45), one line each. ANDREA: the biggest lesson for me was that the AI was only ever as good as the context and structure we gave it — the planning up front was the whole game. JONAH: being honest about the model's limits made it more convincing, not less. SEBASTIAN: keeping it to one codebase and one consistent look is what let three of us move fast without stepping on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ANDREA (0:15): That's Brink — live, and built by the three of us. Thanks for listening — we're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Rectangle 1"/>
          <p:cNvSpPr/>
          <p:nvPr/>
        </p:nvSpPr>
        <p:spPr>
          <a:xfrm>
            <a:off x="822960" y="2331720"/>
            <a:ext cx="2194560" cy="635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15600" cy="1463040"/>
          </a:xfrm>
          <a:prstGeom prst="rect">
            <a:avLst/>
          </a:prstGeom>
          <a:noFill/>
        </p:spPr>
        <p:txBody>
          <a:bodyPr wrap="square">
            <a:spAutoFit/>
          </a:bodyPr>
          <a:lstStyle/>
          <a:p>
            <a:r>
              <a:rPr sz="5000" b="1" i="0">
                <a:solidFill>
                  <a:srgbClr val="EDEDF5"/>
                </a:solidFill>
                <a:latin typeface="Inter"/>
              </a:rPr>
              <a:t>Brink — Music, but social. 🎶</a:t>
            </a:r>
          </a:p>
        </p:txBody>
      </p:sp>
      <p:sp>
        <p:nvSpPr>
          <p:cNvPr id="4" name="TextBox 3"/>
          <p:cNvSpPr txBox="1"/>
          <p:nvPr/>
        </p:nvSpPr>
        <p:spPr>
          <a:xfrm>
            <a:off x="822960" y="3749039"/>
            <a:ext cx="10515600" cy="914400"/>
          </a:xfrm>
          <a:prstGeom prst="rect">
            <a:avLst/>
          </a:prstGeom>
          <a:noFill/>
        </p:spPr>
        <p:txBody>
          <a:bodyPr wrap="square">
            <a:spAutoFit/>
          </a:bodyPr>
          <a:lstStyle/>
          <a:p>
            <a:r>
              <a:rPr sz="2400" b="1" i="0">
                <a:solidFill>
                  <a:srgbClr val="9D8DF1"/>
                </a:solidFill>
                <a:latin typeface="Inter"/>
              </a:rPr>
              <a:t>A social app built on what you actually listen to.</a:t>
            </a:r>
          </a:p>
        </p:txBody>
      </p:sp>
      <p:sp>
        <p:nvSpPr>
          <p:cNvPr id="5" name="TextBox 4"/>
          <p:cNvSpPr txBox="1"/>
          <p:nvPr/>
        </p:nvSpPr>
        <p:spPr>
          <a:xfrm>
            <a:off x="822960" y="4709160"/>
            <a:ext cx="10515600" cy="1280160"/>
          </a:xfrm>
          <a:prstGeom prst="rect">
            <a:avLst/>
          </a:prstGeom>
          <a:noFill/>
        </p:spPr>
        <p:txBody>
          <a:bodyPr wrap="square">
            <a:spAutoFit/>
          </a:bodyPr>
          <a:lstStyle/>
          <a:p>
            <a:r>
              <a:rPr sz="1600" b="0" i="0">
                <a:solidFill>
                  <a:srgbClr val="8A8AA3"/>
                </a:solidFill>
                <a:latin typeface="Inter"/>
              </a:rPr>
              <a:t>brink-xg7p.onrender.com</a:t>
            </a:r>
          </a:p>
          <a:p>
            <a:r>
              <a:rPr sz="1600" b="0" i="0">
                <a:solidFill>
                  <a:srgbClr val="8A8AA3"/>
                </a:solidFill>
                <a:latin typeface="Inter"/>
              </a:rPr>
              <a:t>Andrea Vreugdenhil (backend) · Jonah Walker (analytics) · Sebastian Arguedas Soley (frontend)</a:t>
            </a:r>
          </a:p>
          <a:p>
            <a:r>
              <a:rPr sz="1600" b="0" i="0">
                <a:solidFill>
                  <a:srgbClr val="8A8AA3"/>
                </a:solidFill>
                <a:latin typeface="Inter"/>
              </a:rPr>
              <a:t>McGill Desautels — MMA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1:00</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The idea</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0" i="0">
                <a:solidFill>
                  <a:srgbClr val="EDEDF5"/>
                </a:solidFill>
                <a:latin typeface="Inter"/>
              </a:rPr>
              <a:t>•  On most apps, what you post is the highlight reel — a version of yourself.</a:t>
            </a:r>
          </a:p>
          <a:p>
            <a:pPr>
              <a:spcAft>
                <a:spcPts val="1400"/>
              </a:spcAft>
            </a:pPr>
            <a:r>
              <a:rPr sz="2000" b="0" i="0">
                <a:solidFill>
                  <a:srgbClr val="EDEDF5"/>
                </a:solidFill>
                <a:latin typeface="Inter"/>
              </a:rPr>
              <a:t>•  What you listen to is more honest: it's just what you played.</a:t>
            </a:r>
          </a:p>
          <a:p>
            <a:pPr>
              <a:spcAft>
                <a:spcPts val="1400"/>
              </a:spcAft>
            </a:pPr>
            <a:r>
              <a:rPr sz="2000" b="1" i="0">
                <a:solidFill>
                  <a:srgbClr val="F472B6"/>
                </a:solidFill>
                <a:latin typeface="Inter"/>
              </a:rPr>
              <a:t>So we built the feed on that — and used it to find who listens like you.</a:t>
            </a:r>
          </a:p>
          <a:p>
            <a:pPr>
              <a:spcAft>
                <a:spcPts val="1400"/>
              </a:spcAft>
            </a:pPr>
            <a:r>
              <a:rPr sz="2000" b="0" i="0">
                <a:solidFill>
                  <a:srgbClr val="EDEDF5"/>
                </a:solidFill>
                <a:latin typeface="Inter"/>
              </a:rPr>
              <a:t>•  Two questions run through the whole app: what do you listen to, and who matches you?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1:00</a:t>
            </a:r>
          </a:p>
        </p:txBody>
      </p:sp>
      <p:sp>
        <p:nvSpPr>
          <p:cNvPr id="3" name="TextBox 2"/>
          <p:cNvSpPr txBox="1"/>
          <p:nvPr/>
        </p:nvSpPr>
        <p:spPr>
          <a:xfrm>
            <a:off x="640080" y="868680"/>
            <a:ext cx="6400800" cy="1280160"/>
          </a:xfrm>
          <a:prstGeom prst="rect">
            <a:avLst/>
          </a:prstGeom>
          <a:noFill/>
        </p:spPr>
        <p:txBody>
          <a:bodyPr wrap="square">
            <a:spAutoFit/>
          </a:bodyPr>
          <a:lstStyle/>
          <a:p>
            <a:r>
              <a:rPr sz="3200" b="1" i="0">
                <a:solidFill>
                  <a:srgbClr val="9D8DF1"/>
                </a:solidFill>
                <a:latin typeface="Inter"/>
              </a:rPr>
              <a:t>What Brink is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5760720" cy="4023360"/>
          </a:xfrm>
          <a:prstGeom prst="rect">
            <a:avLst/>
          </a:prstGeom>
          <a:noFill/>
        </p:spPr>
        <p:txBody>
          <a:bodyPr wrap="square">
            <a:spAutoFit/>
          </a:bodyPr>
          <a:lstStyle/>
          <a:p>
            <a:pPr>
              <a:spcAft>
                <a:spcPts val="1400"/>
              </a:spcAft>
            </a:pPr>
            <a:r>
              <a:rPr sz="1900" b="1" i="0">
                <a:solidFill>
                  <a:srgbClr val="F472B6"/>
                </a:solidFill>
                <a:latin typeface="Inter"/>
              </a:rPr>
              <a:t>Feed — songs that play right in the card, with reactions &amp; comments</a:t>
            </a:r>
          </a:p>
          <a:p>
            <a:pPr>
              <a:spcAft>
                <a:spcPts val="1400"/>
              </a:spcAft>
            </a:pPr>
            <a:r>
              <a:rPr sz="1900" b="1" i="0">
                <a:solidFill>
                  <a:srgbClr val="F472B6"/>
                </a:solidFill>
                <a:latin typeface="Inter"/>
              </a:rPr>
              <a:t>Taste communities — a group our model puts you in</a:t>
            </a:r>
          </a:p>
          <a:p>
            <a:pPr>
              <a:spcAft>
                <a:spcPts val="1400"/>
              </a:spcAft>
            </a:pPr>
            <a:r>
              <a:rPr sz="1900" b="1" i="0">
                <a:solidFill>
                  <a:srgbClr val="F472B6"/>
                </a:solidFill>
                <a:latin typeface="Inter"/>
              </a:rPr>
              <a:t>Compatibility — how close two people's taste is</a:t>
            </a:r>
          </a:p>
          <a:p>
            <a:pPr>
              <a:spcAft>
                <a:spcPts val="1400"/>
              </a:spcAft>
            </a:pPr>
            <a:r>
              <a:rPr sz="1900" b="1" i="0">
                <a:solidFill>
                  <a:srgbClr val="F472B6"/>
                </a:solidFill>
                <a:latin typeface="Inter"/>
              </a:rPr>
              <a:t>Artist portal — behind-the-scenes posts to fans</a:t>
            </a:r>
          </a:p>
          <a:p>
            <a:pPr>
              <a:spcAft>
                <a:spcPts val="1400"/>
              </a:spcAft>
            </a:pPr>
            <a:r>
              <a:rPr sz="1900" b="0" i="0">
                <a:solidFill>
                  <a:srgbClr val="EDEDF5"/>
                </a:solidFill>
                <a:latin typeface="Inter"/>
              </a:rPr>
              <a:t>•  It's all one live app — everything we planned is built.</a:t>
            </a:r>
          </a:p>
        </p:txBody>
      </p:sp>
      <p:sp>
        <p:nvSpPr>
          <p:cNvPr id="6" name="Rounded Rectangle 5"/>
          <p:cNvSpPr/>
          <p:nvPr/>
        </p:nvSpPr>
        <p:spPr>
          <a:xfrm>
            <a:off x="6720840" y="914400"/>
            <a:ext cx="4846320" cy="5394960"/>
          </a:xfrm>
          <a:prstGeom prst="roundRect">
            <a:avLst/>
          </a:prstGeom>
          <a:solidFill>
            <a:srgbClr val="15151F"/>
          </a:solidFill>
          <a:ln w="1270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eed-brink.png"/>
          <p:cNvPicPr>
            <a:picLocks noChangeAspect="1"/>
          </p:cNvPicPr>
          <p:nvPr/>
        </p:nvPicPr>
        <p:blipFill>
          <a:blip r:embed="rId2"/>
          <a:stretch>
            <a:fillRect/>
          </a:stretch>
        </p:blipFill>
        <p:spPr>
          <a:xfrm>
            <a:off x="7232930" y="1051560"/>
            <a:ext cx="3822139"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1:30</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What we really set out to do</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0" i="0">
                <a:solidFill>
                  <a:srgbClr val="EDEDF5"/>
                </a:solidFill>
                <a:latin typeface="Inter"/>
              </a:rPr>
              <a:t>•  A big goal was to see how far we could get by leaning on AI coding agents.</a:t>
            </a:r>
          </a:p>
          <a:p>
            <a:pPr>
              <a:spcAft>
                <a:spcPts val="1400"/>
              </a:spcAft>
            </a:pPr>
            <a:r>
              <a:rPr sz="2000" b="0" i="0">
                <a:solidFill>
                  <a:srgbClr val="EDEDF5"/>
                </a:solidFill>
                <a:latin typeface="Inter"/>
              </a:rPr>
              <a:t>•  We learned fast: AI is only as good as the context you give it.</a:t>
            </a:r>
          </a:p>
          <a:p>
            <a:pPr>
              <a:spcAft>
                <a:spcPts val="1400"/>
              </a:spcAft>
            </a:pPr>
            <a:r>
              <a:rPr sz="2000" b="0" i="0">
                <a:solidFill>
                  <a:srgbClr val="EDEDF5"/>
                </a:solidFill>
                <a:latin typeface="Inter"/>
              </a:rPr>
              <a:t>•  So the job was two things — give the agents rich context, and be exact about what to build.</a:t>
            </a:r>
          </a:p>
          <a:p>
            <a:pPr>
              <a:spcAft>
                <a:spcPts val="1400"/>
              </a:spcAft>
            </a:pPr>
            <a:r>
              <a:rPr sz="2000" b="1" i="0">
                <a:solidFill>
                  <a:srgbClr val="F472B6"/>
                </a:solidFill>
                <a:latin typeface="Inter"/>
              </a:rPr>
              <a:t>Our first couple of weeks were planning, not code:  ADRs, tickets, and project governance.</a:t>
            </a:r>
          </a:p>
          <a:p>
            <a:pPr>
              <a:spcAft>
                <a:spcPts val="1400"/>
              </a:spcAft>
            </a:pPr>
            <a:r>
              <a:rPr sz="2000" b="0" i="0">
                <a:solidFill>
                  <a:srgbClr val="EDEDF5"/>
                </a:solidFill>
                <a:latin typeface="Inter"/>
              </a:rPr>
              <a:t>•  That groundwork is what let everything after it move quickly.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1:30</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The scaffolding that let AI build</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2468880"/>
            <a:ext cx="3429000" cy="3200400"/>
          </a:xfrm>
          <a:prstGeom prst="roundRect">
            <a:avLst/>
          </a:prstGeom>
          <a:solidFill>
            <a:srgbClr val="15151F"/>
          </a:solidFill>
          <a:ln w="19050">
            <a:solidFill>
              <a:srgbClr val="9D8DF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tIns="228600"/>
          <a:lstStyle/>
          <a:p>
            <a:pPr algn="ctr">
              <a:spcAft>
                <a:spcPts val="1000"/>
              </a:spcAft>
            </a:pPr>
            <a:r>
              <a:rPr sz="2000" b="1" i="0">
                <a:solidFill>
                  <a:srgbClr val="9D8DF1"/>
                </a:solidFill>
                <a:latin typeface="Inter"/>
              </a:rPr>
              <a:t>ADRs</a:t>
            </a:r>
          </a:p>
          <a:p>
            <a:pPr>
              <a:spcAft>
                <a:spcPts val="800"/>
              </a:spcAft>
            </a:pPr>
            <a:r>
              <a:rPr sz="1500" b="0" i="0">
                <a:solidFill>
                  <a:srgbClr val="EDEDF5"/>
                </a:solidFill>
                <a:latin typeface="Inter"/>
              </a:rPr>
              <a:t>Every real decision, written down with the reasoning.</a:t>
            </a:r>
          </a:p>
          <a:p>
            <a:pPr>
              <a:spcAft>
                <a:spcPts val="800"/>
              </a:spcAft>
            </a:pPr>
            <a:r>
              <a:rPr sz="1500" b="0" i="0">
                <a:solidFill>
                  <a:srgbClr val="EDEDF5"/>
                </a:solidFill>
                <a:latin typeface="Inter"/>
              </a:rPr>
              <a:t>So an agent — or a teammate — knows why things are the way they are.</a:t>
            </a:r>
          </a:p>
          <a:p>
            <a:pPr>
              <a:spcAft>
                <a:spcPts val="800"/>
              </a:spcAft>
            </a:pPr>
            <a:r>
              <a:rPr sz="1500" b="0" i="0">
                <a:solidFill>
                  <a:srgbClr val="EDEDF5"/>
                </a:solidFill>
                <a:latin typeface="Inter"/>
              </a:rPr>
              <a:t>Append-only: we supersede, never quietly edit.</a:t>
            </a:r>
          </a:p>
        </p:txBody>
      </p:sp>
      <p:sp>
        <p:nvSpPr>
          <p:cNvPr id="6" name="Rounded Rectangle 5"/>
          <p:cNvSpPr/>
          <p:nvPr/>
        </p:nvSpPr>
        <p:spPr>
          <a:xfrm>
            <a:off x="4343400" y="2468880"/>
            <a:ext cx="3429000" cy="3200400"/>
          </a:xfrm>
          <a:prstGeom prst="roundRect">
            <a:avLst/>
          </a:prstGeom>
          <a:solidFill>
            <a:srgbClr val="15151F"/>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tIns="228600"/>
          <a:lstStyle/>
          <a:p>
            <a:pPr algn="ctr">
              <a:spcAft>
                <a:spcPts val="1000"/>
              </a:spcAft>
            </a:pPr>
            <a:r>
              <a:rPr sz="2000" b="1" i="0">
                <a:solidFill>
                  <a:srgbClr val="F472B6"/>
                </a:solidFill>
                <a:latin typeface="Inter"/>
              </a:rPr>
              <a:t>Tickets</a:t>
            </a:r>
          </a:p>
          <a:p>
            <a:pPr>
              <a:spcAft>
                <a:spcPts val="800"/>
              </a:spcAft>
            </a:pPr>
            <a:r>
              <a:rPr sz="1500" b="0" i="0">
                <a:solidFill>
                  <a:srgbClr val="EDEDF5"/>
                </a:solidFill>
                <a:latin typeface="Inter"/>
              </a:rPr>
              <a:t>One clear piece of work at a time.</a:t>
            </a:r>
          </a:p>
          <a:p>
            <a:pPr>
              <a:spcAft>
                <a:spcPts val="800"/>
              </a:spcAft>
            </a:pPr>
            <a:r>
              <a:rPr sz="1500" b="0" i="0">
                <a:solidFill>
                  <a:srgbClr val="EDEDF5"/>
                </a:solidFill>
                <a:latin typeface="Inter"/>
              </a:rPr>
              <a:t>The agent builds exactly that — nothing more.</a:t>
            </a:r>
          </a:p>
          <a:p>
            <a:pPr>
              <a:spcAft>
                <a:spcPts val="800"/>
              </a:spcAft>
            </a:pPr>
            <a:r>
              <a:rPr sz="1500" b="0" i="0">
                <a:solidFill>
                  <a:srgbClr val="EDEDF5"/>
                </a:solidFill>
                <a:latin typeface="Inter"/>
              </a:rPr>
              <a:t>Each one traces back to a requirement.</a:t>
            </a:r>
          </a:p>
        </p:txBody>
      </p:sp>
      <p:sp>
        <p:nvSpPr>
          <p:cNvPr id="7" name="Rounded Rectangle 6"/>
          <p:cNvSpPr/>
          <p:nvPr/>
        </p:nvSpPr>
        <p:spPr>
          <a:xfrm>
            <a:off x="8046720" y="2468880"/>
            <a:ext cx="3429000" cy="3200400"/>
          </a:xfrm>
          <a:prstGeom prst="roundRect">
            <a:avLst/>
          </a:prstGeom>
          <a:solidFill>
            <a:srgbClr val="15151F"/>
          </a:solidFill>
          <a:ln w="19050">
            <a:solidFill>
              <a:srgbClr val="5EEAD4"/>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182880" tIns="228600"/>
          <a:lstStyle/>
          <a:p>
            <a:pPr algn="ctr">
              <a:spcAft>
                <a:spcPts val="1000"/>
              </a:spcAft>
            </a:pPr>
            <a:r>
              <a:rPr sz="2000" b="1" i="0">
                <a:solidFill>
                  <a:srgbClr val="5EEAD4"/>
                </a:solidFill>
                <a:latin typeface="Inter"/>
              </a:rPr>
              <a:t>Governance</a:t>
            </a:r>
          </a:p>
          <a:p>
            <a:pPr>
              <a:spcAft>
                <a:spcPts val="800"/>
              </a:spcAft>
            </a:pPr>
            <a:r>
              <a:rPr sz="1500" b="0" i="0">
                <a:solidFill>
                  <a:srgbClr val="EDEDF5"/>
                </a:solidFill>
                <a:latin typeface="Inter"/>
              </a:rPr>
              <a:t>Guardrails around every change: one PR at a time.</a:t>
            </a:r>
          </a:p>
          <a:p>
            <a:pPr>
              <a:spcAft>
                <a:spcPts val="800"/>
              </a:spcAft>
            </a:pPr>
            <a:r>
              <a:rPr sz="1500" b="0" i="0">
                <a:solidFill>
                  <a:srgbClr val="EDEDF5"/>
                </a:solidFill>
                <a:latin typeface="Inter"/>
              </a:rPr>
              <a:t>CI runs tests + a secret scan automatically.</a:t>
            </a:r>
          </a:p>
          <a:p>
            <a:pPr>
              <a:spcAft>
                <a:spcPts val="800"/>
              </a:spcAft>
            </a:pPr>
            <a:r>
              <a:rPr sz="1500" b="0" i="0">
                <a:solidFill>
                  <a:srgbClr val="EDEDF5"/>
                </a:solidFill>
                <a:latin typeface="Inter"/>
              </a:rPr>
              <a:t>A check fails if you change code but not its docs.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1:00</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Two times we changed our minds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0" i="0">
                <a:solidFill>
                  <a:srgbClr val="EDEDF5"/>
                </a:solidFill>
                <a:latin typeface="Inter"/>
              </a:rPr>
              <a:t>•  Backend:  TypeScript / Vercel  →  Python / FastAPI   (ADR-0010)</a:t>
            </a:r>
          </a:p>
          <a:p>
            <a:pPr>
              <a:spcAft>
                <a:spcPts val="1400"/>
              </a:spcAft>
            </a:pPr>
            <a:r>
              <a:rPr sz="2000" b="0" i="0">
                <a:solidFill>
                  <a:srgbClr val="EDEDF5"/>
                </a:solidFill>
                <a:latin typeface="Inter"/>
              </a:rPr>
              <a:t>•  Frontend:  React app  →  simpler server-rendered pages   (ADR-0013)</a:t>
            </a:r>
          </a:p>
          <a:p>
            <a:pPr>
              <a:spcAft>
                <a:spcPts val="1400"/>
              </a:spcAft>
            </a:pPr>
            <a:r>
              <a:rPr sz="2000" b="1" i="0">
                <a:solidFill>
                  <a:srgbClr val="F472B6"/>
                </a:solidFill>
                <a:latin typeface="Inter"/>
              </a:rPr>
              <a:t>Why both times: the security-sensitive parts were in a stack we couldn't all read.</a:t>
            </a:r>
          </a:p>
          <a:p>
            <a:pPr>
              <a:spcAft>
                <a:spcPts val="1400"/>
              </a:spcAft>
            </a:pPr>
            <a:r>
              <a:rPr sz="2000" b="0" i="0">
                <a:solidFill>
                  <a:srgbClr val="EDEDF5"/>
                </a:solidFill>
                <a:latin typeface="Inter"/>
              </a:rPr>
              <a:t>•  Now it's one Python codebase all three of us can actually read and defend.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11480"/>
            <a:ext cx="10881360" cy="365760"/>
          </a:xfrm>
          <a:prstGeom prst="rect">
            <a:avLst/>
          </a:prstGeom>
          <a:noFill/>
        </p:spPr>
        <p:txBody>
          <a:bodyPr wrap="square">
            <a:spAutoFit/>
          </a:bodyPr>
          <a:lstStyle/>
          <a:p>
            <a:r>
              <a:rPr sz="1300" b="1" i="0">
                <a:solidFill>
                  <a:srgbClr val="8A8AA3"/>
                </a:solidFill>
                <a:latin typeface="Inter"/>
              </a:rPr>
              <a:t>ANDREA · 1:00</a:t>
            </a:r>
          </a:p>
        </p:txBody>
      </p:sp>
      <p:sp>
        <p:nvSpPr>
          <p:cNvPr id="3" name="TextBox 2"/>
          <p:cNvSpPr txBox="1"/>
          <p:nvPr/>
        </p:nvSpPr>
        <p:spPr>
          <a:xfrm>
            <a:off x="640080" y="777240"/>
            <a:ext cx="10881360" cy="640080"/>
          </a:xfrm>
          <a:prstGeom prst="rect">
            <a:avLst/>
          </a:prstGeom>
          <a:noFill/>
        </p:spPr>
        <p:txBody>
          <a:bodyPr wrap="square">
            <a:spAutoFit/>
          </a:bodyPr>
          <a:lstStyle/>
          <a:p>
            <a:r>
              <a:rPr sz="3000" b="1" i="0">
                <a:solidFill>
                  <a:srgbClr val="9D8DF1"/>
                </a:solidFill>
                <a:latin typeface="Inter"/>
              </a:rPr>
              <a:t>How it fits together</a:t>
            </a:r>
          </a:p>
        </p:txBody>
      </p:sp>
      <p:sp>
        <p:nvSpPr>
          <p:cNvPr id="4" name="Rounded Rectangle 3"/>
          <p:cNvSpPr/>
          <p:nvPr/>
        </p:nvSpPr>
        <p:spPr>
          <a:xfrm>
            <a:off x="640080" y="1737360"/>
            <a:ext cx="2468880" cy="914400"/>
          </a:xfrm>
          <a:prstGeom prst="roundRect">
            <a:avLst/>
          </a:prstGeom>
          <a:solidFill>
            <a:srgbClr val="15151F"/>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i="0">
                <a:solidFill>
                  <a:srgbClr val="EDEDF5"/>
                </a:solidFill>
                <a:latin typeface="Inter"/>
              </a:rPr>
              <a:t>Spotify</a:t>
            </a:r>
          </a:p>
          <a:p>
            <a:pPr algn="ctr"/>
            <a:r>
              <a:rPr sz="1000" b="0" i="0">
                <a:solidFill>
                  <a:srgbClr val="8A8AA3"/>
                </a:solidFill>
                <a:latin typeface="Inter"/>
              </a:rPr>
              <a:t>logins · listening · catalog</a:t>
            </a:r>
          </a:p>
        </p:txBody>
      </p:sp>
      <p:sp>
        <p:nvSpPr>
          <p:cNvPr id="5" name="Rounded Rectangle 4"/>
          <p:cNvSpPr/>
          <p:nvPr/>
        </p:nvSpPr>
        <p:spPr>
          <a:xfrm>
            <a:off x="4709160" y="1737360"/>
            <a:ext cx="2743200" cy="914400"/>
          </a:xfrm>
          <a:prstGeom prst="roundRect">
            <a:avLst/>
          </a:prstGeom>
          <a:solidFill>
            <a:srgbClr val="15151F"/>
          </a:solidFill>
          <a:ln w="19050">
            <a:solidFill>
              <a:srgbClr val="9D8DF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i="0">
                <a:solidFill>
                  <a:srgbClr val="EDEDF5"/>
                </a:solidFill>
                <a:latin typeface="Inter"/>
              </a:rPr>
              <a:t>Your browser</a:t>
            </a:r>
          </a:p>
          <a:p>
            <a:pPr algn="ctr"/>
            <a:r>
              <a:rPr sz="1000" b="0" i="0">
                <a:solidFill>
                  <a:srgbClr val="8A8AA3"/>
                </a:solidFill>
                <a:latin typeface="Inter"/>
              </a:rPr>
              <a:t>web pages + light JS</a:t>
            </a:r>
          </a:p>
        </p:txBody>
      </p:sp>
      <p:sp>
        <p:nvSpPr>
          <p:cNvPr id="6" name="Rounded Rectangle 5"/>
          <p:cNvSpPr/>
          <p:nvPr/>
        </p:nvSpPr>
        <p:spPr>
          <a:xfrm>
            <a:off x="2880360" y="3063240"/>
            <a:ext cx="6400800" cy="1828800"/>
          </a:xfrm>
          <a:prstGeom prst="roundRect">
            <a:avLst/>
          </a:prstGeom>
          <a:solidFill>
            <a:srgbClr val="10101A"/>
          </a:solidFill>
          <a:ln w="19050">
            <a:solidFill>
              <a:srgbClr val="9D8DF1"/>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ctr"/>
            <a:r>
              <a:rPr sz="1500" b="1" i="0">
                <a:solidFill>
                  <a:srgbClr val="EDEDF5"/>
                </a:solidFill>
                <a:latin typeface="Inter"/>
              </a:rPr>
              <a:t>FastAPI app  ·  Render</a:t>
            </a:r>
          </a:p>
        </p:txBody>
      </p:sp>
      <p:sp>
        <p:nvSpPr>
          <p:cNvPr id="7" name="Rounded Rectangle 6"/>
          <p:cNvSpPr/>
          <p:nvPr/>
        </p:nvSpPr>
        <p:spPr>
          <a:xfrm>
            <a:off x="3063240" y="3611880"/>
            <a:ext cx="1371600" cy="105156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EDEDF5"/>
                </a:solidFill>
                <a:latin typeface="Inter"/>
              </a:rPr>
              <a:t>Web pages</a:t>
            </a:r>
          </a:p>
          <a:p>
            <a:pPr algn="ctr"/>
            <a:r>
              <a:rPr sz="900" b="0" i="0">
                <a:solidFill>
                  <a:srgbClr val="8A8AA3"/>
                </a:solidFill>
                <a:latin typeface="Inter"/>
              </a:rPr>
              <a:t>Jinja</a:t>
            </a:r>
          </a:p>
        </p:txBody>
      </p:sp>
      <p:sp>
        <p:nvSpPr>
          <p:cNvPr id="8" name="Rounded Rectangle 7"/>
          <p:cNvSpPr/>
          <p:nvPr/>
        </p:nvSpPr>
        <p:spPr>
          <a:xfrm>
            <a:off x="4599432" y="3611880"/>
            <a:ext cx="1371600" cy="105156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EDEDF5"/>
                </a:solidFill>
                <a:latin typeface="Inter"/>
              </a:rPr>
              <a:t>JSON API</a:t>
            </a:r>
          </a:p>
        </p:txBody>
      </p:sp>
      <p:sp>
        <p:nvSpPr>
          <p:cNvPr id="9" name="Rounded Rectangle 8"/>
          <p:cNvSpPr/>
          <p:nvPr/>
        </p:nvSpPr>
        <p:spPr>
          <a:xfrm>
            <a:off x="6135624" y="3611880"/>
            <a:ext cx="1371600" cy="105156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EDEDF5"/>
                </a:solidFill>
                <a:latin typeface="Inter"/>
              </a:rPr>
              <a:t>Auth</a:t>
            </a:r>
          </a:p>
          <a:p>
            <a:pPr algn="ctr"/>
            <a:r>
              <a:rPr sz="900" b="0" i="0">
                <a:solidFill>
                  <a:srgbClr val="8A8AA3"/>
                </a:solidFill>
                <a:latin typeface="Inter"/>
              </a:rPr>
              <a:t>JWT · AES-256</a:t>
            </a:r>
          </a:p>
        </p:txBody>
      </p:sp>
      <p:sp>
        <p:nvSpPr>
          <p:cNvPr id="10" name="Rounded Rectangle 9"/>
          <p:cNvSpPr/>
          <p:nvPr/>
        </p:nvSpPr>
        <p:spPr>
          <a:xfrm>
            <a:off x="7671816" y="3611880"/>
            <a:ext cx="1371600" cy="105156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EDEDF5"/>
                </a:solidFill>
                <a:latin typeface="Inter"/>
              </a:rPr>
              <a:t>Inference</a:t>
            </a:r>
          </a:p>
          <a:p>
            <a:pPr algn="ctr"/>
            <a:r>
              <a:rPr sz="900" b="0" i="0">
                <a:solidFill>
                  <a:srgbClr val="8A8AA3"/>
                </a:solidFill>
                <a:latin typeface="Inter"/>
              </a:rPr>
              <a:t>on read</a:t>
            </a:r>
          </a:p>
        </p:txBody>
      </p:sp>
      <p:sp>
        <p:nvSpPr>
          <p:cNvPr id="11" name="Rounded Rectangle 10"/>
          <p:cNvSpPr/>
          <p:nvPr/>
        </p:nvSpPr>
        <p:spPr>
          <a:xfrm>
            <a:off x="2011680" y="5257800"/>
            <a:ext cx="4206240" cy="1280160"/>
          </a:xfrm>
          <a:prstGeom prst="roundRect">
            <a:avLst/>
          </a:prstGeom>
          <a:solidFill>
            <a:srgbClr val="10101A"/>
          </a:solidFill>
          <a:ln w="19050">
            <a:solidFill>
              <a:srgbClr val="5EEAD4"/>
            </a:solidFill>
          </a:ln>
          <a:effectLst/>
        </p:spPr>
        <p:style>
          <a:lnRef idx="1">
            <a:schemeClr val="accent1"/>
          </a:lnRef>
          <a:fillRef idx="3">
            <a:schemeClr val="accent1"/>
          </a:fillRef>
          <a:effectRef idx="2">
            <a:schemeClr val="accent1"/>
          </a:effectRef>
          <a:fontRef idx="minor">
            <a:schemeClr val="lt1"/>
          </a:fontRef>
        </p:style>
        <p:txBody>
          <a:bodyPr rtlCol="0" anchor="t" wrap="square" lIns="54864" rIns="54864" tIns="27432" bIns="27432"/>
          <a:lstStyle/>
          <a:p>
            <a:pPr algn="ctr"/>
            <a:r>
              <a:rPr sz="1400" b="1" i="0">
                <a:solidFill>
                  <a:srgbClr val="EDEDF5"/>
                </a:solidFill>
                <a:latin typeface="Inter"/>
              </a:rPr>
              <a:t>Supabase</a:t>
            </a:r>
          </a:p>
        </p:txBody>
      </p:sp>
      <p:sp>
        <p:nvSpPr>
          <p:cNvPr id="12" name="Rounded Rectangle 11"/>
          <p:cNvSpPr/>
          <p:nvPr/>
        </p:nvSpPr>
        <p:spPr>
          <a:xfrm>
            <a:off x="2148840" y="5715000"/>
            <a:ext cx="1828800" cy="73152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EDEDF5"/>
                </a:solidFill>
                <a:latin typeface="Inter"/>
              </a:rPr>
              <a:t>Postgres</a:t>
            </a:r>
          </a:p>
          <a:p>
            <a:pPr algn="ctr"/>
            <a:r>
              <a:rPr sz="800" b="0" i="0">
                <a:solidFill>
                  <a:srgbClr val="8A8AA3"/>
                </a:solidFill>
                <a:latin typeface="Inter"/>
              </a:rPr>
              <a:t>public + bronze/silver/gold</a:t>
            </a:r>
          </a:p>
        </p:txBody>
      </p:sp>
      <p:sp>
        <p:nvSpPr>
          <p:cNvPr id="13" name="Rounded Rectangle 12"/>
          <p:cNvSpPr/>
          <p:nvPr/>
        </p:nvSpPr>
        <p:spPr>
          <a:xfrm>
            <a:off x="4069080" y="5715000"/>
            <a:ext cx="822960" cy="73152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EDEDF5"/>
                </a:solidFill>
                <a:latin typeface="Inter"/>
              </a:rPr>
              <a:t>Auth</a:t>
            </a:r>
          </a:p>
        </p:txBody>
      </p:sp>
      <p:sp>
        <p:nvSpPr>
          <p:cNvPr id="14" name="Rounded Rectangle 13"/>
          <p:cNvSpPr/>
          <p:nvPr/>
        </p:nvSpPr>
        <p:spPr>
          <a:xfrm>
            <a:off x="4983480" y="5715000"/>
            <a:ext cx="822960" cy="731520"/>
          </a:xfrm>
          <a:prstGeom prst="roundRect">
            <a:avLst/>
          </a:prstGeom>
          <a:solidFill>
            <a:srgbClr val="15151F"/>
          </a:solidFill>
          <a:ln w="1905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EDEDF5"/>
                </a:solidFill>
                <a:latin typeface="Inter"/>
              </a:rPr>
              <a:t>Storage</a:t>
            </a:r>
          </a:p>
        </p:txBody>
      </p:sp>
      <p:sp>
        <p:nvSpPr>
          <p:cNvPr id="15" name="Rounded Rectangle 14"/>
          <p:cNvSpPr/>
          <p:nvPr/>
        </p:nvSpPr>
        <p:spPr>
          <a:xfrm>
            <a:off x="6720840" y="5257800"/>
            <a:ext cx="3017520" cy="1280160"/>
          </a:xfrm>
          <a:prstGeom prst="roundRect">
            <a:avLst/>
          </a:prstGeom>
          <a:solidFill>
            <a:srgbClr val="15151F"/>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i="0">
                <a:solidFill>
                  <a:srgbClr val="EDEDF5"/>
                </a:solidFill>
                <a:latin typeface="Inter"/>
              </a:rPr>
              <a:t>Analytics pipeline</a:t>
            </a:r>
          </a:p>
          <a:p>
            <a:pPr algn="ctr"/>
            <a:r>
              <a:rPr sz="1000" b="0" i="0">
                <a:solidFill>
                  <a:srgbClr val="8A8AA3"/>
                </a:solidFill>
                <a:latin typeface="Inter"/>
              </a:rPr>
              <a:t>GitHub Actions · nightly
trains K-means → writes gold</a:t>
            </a:r>
          </a:p>
        </p:txBody>
      </p:sp>
      <p:cxnSp>
        <p:nvCxnSpPr>
          <p:cNvPr id="16" name="Connector 15"/>
          <p:cNvCxnSpPr/>
          <p:nvPr/>
        </p:nvCxnSpPr>
        <p:spPr>
          <a:xfrm>
            <a:off x="6080760" y="2651760"/>
            <a:ext cx="0" cy="411480"/>
          </a:xfrm>
          <a:prstGeom prst="line">
            <a:avLst/>
          </a:prstGeom>
          <a:ln w="22225">
            <a:solidFill>
              <a:srgbClr val="9D8DF1"/>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72200" y="2697480"/>
            <a:ext cx="2194560" cy="274320"/>
          </a:xfrm>
          <a:prstGeom prst="rect">
            <a:avLst/>
          </a:prstGeom>
          <a:noFill/>
        </p:spPr>
        <p:txBody>
          <a:bodyPr wrap="square">
            <a:spAutoFit/>
          </a:bodyPr>
          <a:lstStyle/>
          <a:p>
            <a:pPr algn="ctr"/>
            <a:r>
              <a:rPr sz="1000" b="0" i="0">
                <a:solidFill>
                  <a:srgbClr val="9D8DF1"/>
                </a:solidFill>
                <a:latin typeface="Inter"/>
              </a:rPr>
              <a:t>HTTPS · same-origin</a:t>
            </a:r>
          </a:p>
        </p:txBody>
      </p:sp>
      <p:cxnSp>
        <p:nvCxnSpPr>
          <p:cNvPr id="18" name="Connector 17"/>
          <p:cNvCxnSpPr/>
          <p:nvPr/>
        </p:nvCxnSpPr>
        <p:spPr>
          <a:xfrm>
            <a:off x="2377440" y="2651760"/>
            <a:ext cx="1280160" cy="411480"/>
          </a:xfrm>
          <a:prstGeom prst="line">
            <a:avLst/>
          </a:prstGeom>
          <a:ln w="22225">
            <a:solidFill>
              <a:srgbClr val="F472B6"/>
            </a:solidFill>
            <a:tailEnd type="triangle"/>
            <a:headEnd type="triangle"/>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0080" y="2743200"/>
            <a:ext cx="2103120" cy="274320"/>
          </a:xfrm>
          <a:prstGeom prst="rect">
            <a:avLst/>
          </a:prstGeom>
          <a:noFill/>
        </p:spPr>
        <p:txBody>
          <a:bodyPr wrap="square">
            <a:spAutoFit/>
          </a:bodyPr>
          <a:lstStyle/>
          <a:p>
            <a:pPr algn="ctr"/>
            <a:r>
              <a:rPr sz="1000" b="0" i="0">
                <a:solidFill>
                  <a:srgbClr val="F472B6"/>
                </a:solidFill>
                <a:latin typeface="Inter"/>
              </a:rPr>
              <a:t>OAuth · now playing</a:t>
            </a:r>
          </a:p>
        </p:txBody>
      </p:sp>
      <p:cxnSp>
        <p:nvCxnSpPr>
          <p:cNvPr id="20" name="Connector 19"/>
          <p:cNvCxnSpPr/>
          <p:nvPr/>
        </p:nvCxnSpPr>
        <p:spPr>
          <a:xfrm flipH="1">
            <a:off x="4206240" y="4892040"/>
            <a:ext cx="365760" cy="365760"/>
          </a:xfrm>
          <a:prstGeom prst="line">
            <a:avLst/>
          </a:prstGeom>
          <a:ln w="22225">
            <a:solidFill>
              <a:srgbClr val="5EEAD4"/>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480560" y="4956048"/>
            <a:ext cx="2011680" cy="274320"/>
          </a:xfrm>
          <a:prstGeom prst="rect">
            <a:avLst/>
          </a:prstGeom>
          <a:noFill/>
        </p:spPr>
        <p:txBody>
          <a:bodyPr wrap="square">
            <a:spAutoFit/>
          </a:bodyPr>
          <a:lstStyle/>
          <a:p>
            <a:pPr algn="ctr"/>
            <a:r>
              <a:rPr sz="1000" b="0" i="0">
                <a:solidFill>
                  <a:srgbClr val="5EEAD4"/>
                </a:solidFill>
                <a:latin typeface="Inter"/>
              </a:rPr>
              <a:t>SQLModel ORM</a:t>
            </a:r>
          </a:p>
        </p:txBody>
      </p:sp>
      <p:cxnSp>
        <p:nvCxnSpPr>
          <p:cNvPr id="22" name="Connector 21"/>
          <p:cNvCxnSpPr/>
          <p:nvPr/>
        </p:nvCxnSpPr>
        <p:spPr>
          <a:xfrm flipH="1">
            <a:off x="6263640" y="5897880"/>
            <a:ext cx="457200" cy="91440"/>
          </a:xfrm>
          <a:prstGeom prst="line">
            <a:avLst/>
          </a:prstGeom>
          <a:ln w="22225">
            <a:solidFill>
              <a:srgbClr val="F472B6"/>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126480" y="6263640"/>
            <a:ext cx="2011680" cy="274320"/>
          </a:xfrm>
          <a:prstGeom prst="rect">
            <a:avLst/>
          </a:prstGeom>
          <a:noFill/>
        </p:spPr>
        <p:txBody>
          <a:bodyPr wrap="square">
            <a:spAutoFit/>
          </a:bodyPr>
          <a:lstStyle/>
          <a:p>
            <a:pPr algn="ctr"/>
            <a:r>
              <a:rPr sz="1000" b="0" i="0">
                <a:solidFill>
                  <a:srgbClr val="F472B6"/>
                </a:solidFill>
                <a:latin typeface="Inter"/>
              </a:rPr>
              <a:t>writes gold</a:t>
            </a:r>
          </a:p>
        </p:txBody>
      </p:sp>
      <p:sp>
        <p:nvSpPr>
          <p:cNvPr id="24" name="TextBox 23"/>
          <p:cNvSpPr txBox="1"/>
          <p:nvPr/>
        </p:nvSpPr>
        <p:spPr>
          <a:xfrm>
            <a:off x="640080" y="6446520"/>
            <a:ext cx="10881360" cy="365760"/>
          </a:xfrm>
          <a:prstGeom prst="rect">
            <a:avLst/>
          </a:prstGeom>
          <a:noFill/>
        </p:spPr>
        <p:txBody>
          <a:bodyPr wrap="square">
            <a:spAutoFit/>
          </a:bodyPr>
          <a:lstStyle/>
          <a:p>
            <a:pPr algn="ctr"/>
            <a:r>
              <a:rPr sz="1300" b="0" i="1">
                <a:solidFill>
                  <a:srgbClr val="8A8AA3"/>
                </a:solidFill>
                <a:latin typeface="Inter"/>
              </a:rPr>
              <a:t>One app is everything the user touches. A nightly job trains the model on the side; the app just reads the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0:50</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The data behind it  (~14 tables)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1" i="0">
                <a:solidFill>
                  <a:srgbClr val="F472B6"/>
                </a:solidFill>
                <a:latin typeface="Inter"/>
              </a:rPr>
              <a:t>Social:  users, posts, reactions, comments, the follow graph</a:t>
            </a:r>
          </a:p>
          <a:p>
            <a:pPr>
              <a:spcAft>
                <a:spcPts val="1400"/>
              </a:spcAft>
            </a:pPr>
            <a:r>
              <a:rPr sz="2000" b="1" i="0">
                <a:solidFill>
                  <a:srgbClr val="F472B6"/>
                </a:solidFill>
                <a:latin typeface="Inter"/>
              </a:rPr>
              <a:t>Music &amp; model:  tracks, plays, and the taste communities the model produces</a:t>
            </a:r>
          </a:p>
          <a:p>
            <a:pPr>
              <a:spcAft>
                <a:spcPts val="1400"/>
              </a:spcAft>
            </a:pPr>
            <a:r>
              <a:rPr sz="2000" b="0" i="0">
                <a:solidFill>
                  <a:srgbClr val="EDEDF5"/>
                </a:solidFill>
                <a:latin typeface="Inter"/>
              </a:rPr>
              <a:t>•  A person's community and compatibility aren't stored — we work them out on the spot,</a:t>
            </a:r>
          </a:p>
          <a:p>
            <a:pPr>
              <a:spcAft>
                <a:spcPts val="1400"/>
              </a:spcAft>
            </a:pPr>
            <a:r>
              <a:rPr sz="2000" b="0" i="0">
                <a:solidFill>
                  <a:srgbClr val="EDEDF5"/>
                </a:solidFill>
                <a:latin typeface="Inter"/>
              </a:rPr>
              <a:t>•  so they're never stale and always reflect the latest listening.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ANDREA · 0:45</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Keeping accounts safe</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0" i="0">
                <a:solidFill>
                  <a:srgbClr val="EDEDF5"/>
                </a:solidFill>
                <a:latin typeface="Inter"/>
              </a:rPr>
              <a:t>•  We check every login on our server — we never hold a master key.</a:t>
            </a:r>
          </a:p>
          <a:p>
            <a:pPr>
              <a:spcAft>
                <a:spcPts val="1400"/>
              </a:spcAft>
            </a:pPr>
            <a:r>
              <a:rPr sz="2000" b="1" i="0">
                <a:solidFill>
                  <a:srgbClr val="F472B6"/>
                </a:solidFill>
                <a:latin typeface="Inter"/>
              </a:rPr>
              <a:t>Spotify tokens are encrypted before they're stored  (AES-256-GCM).</a:t>
            </a:r>
          </a:p>
          <a:p>
            <a:pPr>
              <a:spcAft>
                <a:spcPts val="1400"/>
              </a:spcAft>
            </a:pPr>
            <a:r>
              <a:rPr sz="2000" b="0" i="0">
                <a:solidFill>
                  <a:srgbClr val="EDEDF5"/>
                </a:solidFill>
                <a:latin typeface="Inter"/>
              </a:rPr>
              <a:t>•  Limits on how fast anyone can post, and a secret-scanner on every commit.</a:t>
            </a:r>
          </a:p>
          <a:p>
            <a:pPr>
              <a:spcAft>
                <a:spcPts val="1400"/>
              </a:spcAft>
            </a:pPr>
            <a:r>
              <a:rPr sz="2000" b="0" i="0">
                <a:solidFill>
                  <a:srgbClr val="EDEDF5"/>
                </a:solidFill>
                <a:latin typeface="Inter"/>
              </a:rPr>
              <a:t>•  Security was the reason we moved to Python — so we took it seriously.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JONAH · 1:15</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How the data is organised</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1" i="0">
                <a:solidFill>
                  <a:srgbClr val="F472B6"/>
                </a:solidFill>
                <a:latin typeface="Inter"/>
              </a:rPr>
              <a:t>Raw — everything exactly as it arrives (Spotify pulls, dataset rows)</a:t>
            </a:r>
          </a:p>
          <a:p>
            <a:pPr>
              <a:spcAft>
                <a:spcPts val="1400"/>
              </a:spcAft>
            </a:pPr>
            <a:r>
              <a:rPr sz="2000" b="1" i="0">
                <a:solidFill>
                  <a:srgbClr val="F472B6"/>
                </a:solidFill>
                <a:latin typeface="Inter"/>
              </a:rPr>
              <a:t>Cleaned — tidied into the tables the app actually uses</a:t>
            </a:r>
          </a:p>
          <a:p>
            <a:pPr>
              <a:spcAft>
                <a:spcPts val="1400"/>
              </a:spcAft>
            </a:pPr>
            <a:r>
              <a:rPr sz="2000" b="1" i="0">
                <a:solidFill>
                  <a:srgbClr val="F472B6"/>
                </a:solidFill>
                <a:latin typeface="Inter"/>
              </a:rPr>
              <a:t>Model output — the communities and the trained model itself</a:t>
            </a:r>
          </a:p>
          <a:p>
            <a:pPr>
              <a:spcAft>
                <a:spcPts val="1400"/>
              </a:spcAft>
            </a:pPr>
            <a:r>
              <a:rPr sz="2000" b="0" i="0">
                <a:solidFill>
                  <a:srgbClr val="EDEDF5"/>
                </a:solidFill>
                <a:latin typeface="Inter"/>
              </a:rPr>
              <a:t>•  It's a standard 'medallion' pattern. A bit more structure than we strictly needed —</a:t>
            </a:r>
          </a:p>
          <a:p>
            <a:pPr>
              <a:spcAft>
                <a:spcPts val="1400"/>
              </a:spcAft>
            </a:pPr>
            <a:r>
              <a:rPr sz="2000" b="0" i="0">
                <a:solidFill>
                  <a:srgbClr val="EDEDF5"/>
                </a:solidFill>
                <a:latin typeface="Inter"/>
              </a:rPr>
              <a:t>•  but everything stays traceable, which is the point.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JONAH · 1:30</a:t>
            </a:r>
          </a:p>
        </p:txBody>
      </p:sp>
      <p:sp>
        <p:nvSpPr>
          <p:cNvPr id="3" name="TextBox 2"/>
          <p:cNvSpPr txBox="1"/>
          <p:nvPr/>
        </p:nvSpPr>
        <p:spPr>
          <a:xfrm>
            <a:off x="640080" y="868680"/>
            <a:ext cx="6400800" cy="1280160"/>
          </a:xfrm>
          <a:prstGeom prst="rect">
            <a:avLst/>
          </a:prstGeom>
          <a:noFill/>
        </p:spPr>
        <p:txBody>
          <a:bodyPr wrap="square">
            <a:spAutoFit/>
          </a:bodyPr>
          <a:lstStyle/>
          <a:p>
            <a:r>
              <a:rPr sz="3200" b="1" i="0">
                <a:solidFill>
                  <a:srgbClr val="9D8DF1"/>
                </a:solidFill>
                <a:latin typeface="Inter"/>
              </a:rPr>
              <a:t>The model, in two parts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5760720" cy="4023360"/>
          </a:xfrm>
          <a:prstGeom prst="rect">
            <a:avLst/>
          </a:prstGeom>
          <a:noFill/>
        </p:spPr>
        <p:txBody>
          <a:bodyPr wrap="square">
            <a:spAutoFit/>
          </a:bodyPr>
          <a:lstStyle/>
          <a:p>
            <a:pPr>
              <a:spcAft>
                <a:spcPts val="1400"/>
              </a:spcAft>
            </a:pPr>
            <a:r>
              <a:rPr sz="1900" b="1" i="0">
                <a:solidFill>
                  <a:srgbClr val="F472B6"/>
                </a:solidFill>
                <a:latin typeface="Inter"/>
              </a:rPr>
              <a:t>Once a night:  we cluster ~1.2M songs by their sound</a:t>
            </a:r>
          </a:p>
          <a:p>
            <a:pPr>
              <a:spcAft>
                <a:spcPts val="1400"/>
              </a:spcAft>
            </a:pPr>
            <a:r>
              <a:rPr sz="1900" b="0" i="0">
                <a:solidFill>
                  <a:srgbClr val="EDEDF5"/>
                </a:solidFill>
                <a:latin typeface="Inter"/>
              </a:rPr>
              <a:t>•  (danceable, energetic, upbeat…) into 7 taste communities.</a:t>
            </a:r>
          </a:p>
          <a:p>
            <a:pPr>
              <a:spcAft>
                <a:spcPts val="1400"/>
              </a:spcAft>
            </a:pPr>
            <a:r>
              <a:rPr sz="1900" b="1" i="0">
                <a:solidFill>
                  <a:srgbClr val="F472B6"/>
                </a:solidFill>
                <a:latin typeface="Inter"/>
              </a:rPr>
              <a:t>When you open a profile:  we place that person's songs against</a:t>
            </a:r>
          </a:p>
          <a:p>
            <a:pPr>
              <a:spcAft>
                <a:spcPts val="1400"/>
              </a:spcAft>
            </a:pPr>
            <a:r>
              <a:rPr sz="1900" b="0" i="0">
                <a:solidFill>
                  <a:srgbClr val="EDEDF5"/>
                </a:solidFill>
                <a:latin typeface="Inter"/>
              </a:rPr>
              <a:t>•  the communities and find where they fit.</a:t>
            </a:r>
          </a:p>
          <a:p>
            <a:pPr>
              <a:spcAft>
                <a:spcPts val="1400"/>
              </a:spcAft>
            </a:pPr>
            <a:r>
              <a:rPr sz="1900" b="0" i="0">
                <a:solidFill>
                  <a:srgbClr val="EDEDF5"/>
                </a:solidFill>
                <a:latin typeface="Inter"/>
              </a:rPr>
              <a:t>•  Compatibility = how close two people's taste profiles are.</a:t>
            </a:r>
          </a:p>
          <a:p>
            <a:pPr>
              <a:spcAft>
                <a:spcPts val="1400"/>
              </a:spcAft>
            </a:pPr>
            <a:r>
              <a:rPr sz="1900" b="0" i="0">
                <a:solidFill>
                  <a:srgbClr val="EDEDF5"/>
                </a:solidFill>
                <a:latin typeface="Inter"/>
              </a:rPr>
              <a:t>•  Nothing's hard-coded — retrain tonight, the app updates tomorrow.</a:t>
            </a:r>
          </a:p>
        </p:txBody>
      </p:sp>
      <p:sp>
        <p:nvSpPr>
          <p:cNvPr id="6" name="Rounded Rectangle 5"/>
          <p:cNvSpPr/>
          <p:nvPr/>
        </p:nvSpPr>
        <p:spPr>
          <a:xfrm>
            <a:off x="6720840" y="914400"/>
            <a:ext cx="4846320" cy="5394960"/>
          </a:xfrm>
          <a:prstGeom prst="roundRect">
            <a:avLst/>
          </a:prstGeom>
          <a:solidFill>
            <a:srgbClr val="15151F"/>
          </a:solidFill>
          <a:ln w="1270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nalytics-brink.png"/>
          <p:cNvPicPr>
            <a:picLocks noChangeAspect="1"/>
          </p:cNvPicPr>
          <p:nvPr/>
        </p:nvPicPr>
        <p:blipFill>
          <a:blip r:embed="rId2"/>
          <a:stretch>
            <a:fillRect/>
          </a:stretch>
        </p:blipFill>
        <p:spPr>
          <a:xfrm>
            <a:off x="7318651" y="1051560"/>
            <a:ext cx="3650698" cy="5120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JONAH · 0:45</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Being honest about the limits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0" i="0">
                <a:solidFill>
                  <a:srgbClr val="EDEDF5"/>
                </a:solidFill>
                <a:latin typeface="Inter"/>
              </a:rPr>
              <a:t>•  The math actually liked just 2 groups — we chose 7 on purpose, and we say so.</a:t>
            </a:r>
          </a:p>
          <a:p>
            <a:pPr>
              <a:spcAft>
                <a:spcPts val="1400"/>
              </a:spcAft>
            </a:pPr>
            <a:r>
              <a:rPr sz="2000" b="0" i="0">
                <a:solidFill>
                  <a:srgbClr val="EDEDF5"/>
                </a:solidFill>
                <a:latin typeface="Inter"/>
              </a:rPr>
              <a:t>•  Only ~a quarter of songs matched our dataset — we report that, we don't hide it.</a:t>
            </a:r>
          </a:p>
          <a:p>
            <a:pPr>
              <a:spcAft>
                <a:spcPts val="1400"/>
              </a:spcAft>
            </a:pPr>
            <a:r>
              <a:rPr sz="2000" b="1" i="0">
                <a:solidFill>
                  <a:srgbClr val="F472B6"/>
                </a:solidFill>
                <a:latin typeface="Inter"/>
              </a:rPr>
              <a:t>We planned a second model (song popularity) and cut it — the data couldn't support it.</a:t>
            </a:r>
          </a:p>
          <a:p>
            <a:pPr>
              <a:spcAft>
                <a:spcPts val="1400"/>
              </a:spcAft>
            </a:pPr>
            <a:r>
              <a:rPr sz="2000" b="0" i="0">
                <a:solidFill>
                  <a:srgbClr val="EDEDF5"/>
                </a:solidFill>
                <a:latin typeface="Inter"/>
              </a:rPr>
              <a:t>•  We wrote down why. We'd rather show the real picture than a polished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SEBASTIAN · 1:00</a:t>
            </a:r>
          </a:p>
        </p:txBody>
      </p:sp>
      <p:sp>
        <p:nvSpPr>
          <p:cNvPr id="3" name="TextBox 2"/>
          <p:cNvSpPr txBox="1"/>
          <p:nvPr/>
        </p:nvSpPr>
        <p:spPr>
          <a:xfrm>
            <a:off x="640080" y="868680"/>
            <a:ext cx="6400800" cy="1280160"/>
          </a:xfrm>
          <a:prstGeom prst="rect">
            <a:avLst/>
          </a:prstGeom>
          <a:noFill/>
        </p:spPr>
        <p:txBody>
          <a:bodyPr wrap="square">
            <a:spAutoFit/>
          </a:bodyPr>
          <a:lstStyle/>
          <a:p>
            <a:r>
              <a:rPr sz="3200" b="1" i="0">
                <a:solidFill>
                  <a:srgbClr val="9D8DF1"/>
                </a:solidFill>
                <a:latin typeface="Inter"/>
              </a:rPr>
              <a:t>One look, five pages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5760720" cy="4023360"/>
          </a:xfrm>
          <a:prstGeom prst="rect">
            <a:avLst/>
          </a:prstGeom>
          <a:noFill/>
        </p:spPr>
        <p:txBody>
          <a:bodyPr wrap="square">
            <a:spAutoFit/>
          </a:bodyPr>
          <a:lstStyle/>
          <a:p>
            <a:pPr>
              <a:spcAft>
                <a:spcPts val="1400"/>
              </a:spcAft>
            </a:pPr>
            <a:r>
              <a:rPr sz="1900" b="0" i="0">
                <a:solidFill>
                  <a:srgbClr val="EDEDF5"/>
                </a:solidFill>
                <a:latin typeface="Inter"/>
              </a:rPr>
              <a:t>•  Dark, calm, music-first — a lavender &amp; pink accent throughout.</a:t>
            </a:r>
          </a:p>
          <a:p>
            <a:pPr>
              <a:spcAft>
                <a:spcPts val="1400"/>
              </a:spcAft>
            </a:pPr>
            <a:r>
              <a:rPr sz="1900" b="1" i="0">
                <a:solidFill>
                  <a:srgbClr val="F472B6"/>
                </a:solidFill>
                <a:latin typeface="Inter"/>
              </a:rPr>
              <a:t>Landing · Feed · Profile · Artist studio · Analytics</a:t>
            </a:r>
          </a:p>
          <a:p>
            <a:pPr>
              <a:spcAft>
                <a:spcPts val="1400"/>
              </a:spcAft>
            </a:pPr>
            <a:r>
              <a:rPr sz="1900" b="0" i="0">
                <a:solidFill>
                  <a:srgbClr val="EDEDF5"/>
                </a:solidFill>
                <a:latin typeface="Inter"/>
              </a:rPr>
              <a:t>•  No separate app to build — the pages come from the same server,</a:t>
            </a:r>
          </a:p>
          <a:p>
            <a:pPr>
              <a:spcAft>
                <a:spcPts val="1400"/>
              </a:spcAft>
            </a:pPr>
            <a:r>
              <a:rPr sz="1900" b="0" i="0">
                <a:solidFill>
                  <a:srgbClr val="EDEDF5"/>
                </a:solidFill>
                <a:latin typeface="Inter"/>
              </a:rPr>
              <a:t>•  with light JavaScript for the interactive bits.</a:t>
            </a:r>
          </a:p>
          <a:p>
            <a:pPr>
              <a:spcAft>
                <a:spcPts val="1400"/>
              </a:spcAft>
            </a:pPr>
            <a:r>
              <a:rPr sz="1900" b="0" i="0">
                <a:solidFill>
                  <a:srgbClr val="EDEDF5"/>
                </a:solidFill>
                <a:latin typeface="Inter"/>
              </a:rPr>
              <a:t>•  That kept it fast, and simple for a small team to maintain.</a:t>
            </a:r>
          </a:p>
        </p:txBody>
      </p:sp>
      <p:sp>
        <p:nvSpPr>
          <p:cNvPr id="6" name="Rounded Rectangle 5"/>
          <p:cNvSpPr/>
          <p:nvPr/>
        </p:nvSpPr>
        <p:spPr>
          <a:xfrm>
            <a:off x="6720840" y="914400"/>
            <a:ext cx="4846320" cy="5394960"/>
          </a:xfrm>
          <a:prstGeom prst="roundRect">
            <a:avLst/>
          </a:prstGeom>
          <a:solidFill>
            <a:srgbClr val="15151F"/>
          </a:solidFill>
          <a:ln w="1270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anding-brink.png"/>
          <p:cNvPicPr>
            <a:picLocks noChangeAspect="1"/>
          </p:cNvPicPr>
          <p:nvPr/>
        </p:nvPicPr>
        <p:blipFill>
          <a:blip r:embed="rId2"/>
          <a:stretch>
            <a:fillRect/>
          </a:stretch>
        </p:blipFill>
        <p:spPr>
          <a:xfrm>
            <a:off x="7309792" y="1051560"/>
            <a:ext cx="3668415" cy="51206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SEBASTIAN · 0:45</a:t>
            </a:r>
          </a:p>
        </p:txBody>
      </p:sp>
      <p:sp>
        <p:nvSpPr>
          <p:cNvPr id="3" name="TextBox 2"/>
          <p:cNvSpPr txBox="1"/>
          <p:nvPr/>
        </p:nvSpPr>
        <p:spPr>
          <a:xfrm>
            <a:off x="640080" y="868680"/>
            <a:ext cx="6400800" cy="1280160"/>
          </a:xfrm>
          <a:prstGeom prst="rect">
            <a:avLst/>
          </a:prstGeom>
          <a:noFill/>
        </p:spPr>
        <p:txBody>
          <a:bodyPr wrap="square">
            <a:spAutoFit/>
          </a:bodyPr>
          <a:lstStyle/>
          <a:p>
            <a:r>
              <a:rPr sz="3200" b="1" i="0">
                <a:solidFill>
                  <a:srgbClr val="9D8DF1"/>
                </a:solidFill>
                <a:latin typeface="Inter"/>
              </a:rPr>
              <a:t>The small touches</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5760720" cy="4023360"/>
          </a:xfrm>
          <a:prstGeom prst="rect">
            <a:avLst/>
          </a:prstGeom>
          <a:noFill/>
        </p:spPr>
        <p:txBody>
          <a:bodyPr wrap="square">
            <a:spAutoFit/>
          </a:bodyPr>
          <a:lstStyle/>
          <a:p>
            <a:pPr>
              <a:spcAft>
                <a:spcPts val="1400"/>
              </a:spcAft>
            </a:pPr>
            <a:r>
              <a:rPr sz="1900" b="1" i="0">
                <a:solidFill>
                  <a:srgbClr val="F472B6"/>
                </a:solidFill>
                <a:latin typeface="Inter"/>
              </a:rPr>
              <a:t>Tap the album art — a Spotify player opens right in the card.</a:t>
            </a:r>
          </a:p>
          <a:p>
            <a:pPr>
              <a:spcAft>
                <a:spcPts val="1400"/>
              </a:spcAft>
            </a:pPr>
            <a:r>
              <a:rPr sz="1900" b="1" i="0">
                <a:solidFill>
                  <a:srgbClr val="F472B6"/>
                </a:solidFill>
                <a:latin typeface="Inter"/>
              </a:rPr>
              <a:t>A 'liked by' line, and double-tap to heart, like you'd expect.</a:t>
            </a:r>
          </a:p>
          <a:p>
            <a:pPr>
              <a:spcAft>
                <a:spcPts val="1400"/>
              </a:spcAft>
            </a:pPr>
            <a:r>
              <a:rPr sz="1900" b="1" i="0">
                <a:solidFill>
                  <a:srgbClr val="F472B6"/>
                </a:solidFill>
                <a:latin typeface="Inter"/>
              </a:rPr>
              <a:t>One tap to share whatever you're playing right now.</a:t>
            </a:r>
          </a:p>
          <a:p>
            <a:pPr>
              <a:spcAft>
                <a:spcPts val="1400"/>
              </a:spcAft>
            </a:pPr>
            <a:r>
              <a:rPr sz="1900" b="0" i="0">
                <a:solidFill>
                  <a:srgbClr val="EDEDF5"/>
                </a:solidFill>
                <a:latin typeface="Inter"/>
              </a:rPr>
              <a:t>•  Every empty screen has a friendly nudge, not a blank space.</a:t>
            </a:r>
          </a:p>
        </p:txBody>
      </p:sp>
      <p:sp>
        <p:nvSpPr>
          <p:cNvPr id="6" name="Rounded Rectangle 5"/>
          <p:cNvSpPr/>
          <p:nvPr/>
        </p:nvSpPr>
        <p:spPr>
          <a:xfrm>
            <a:off x="6720840" y="914400"/>
            <a:ext cx="4846320" cy="5394960"/>
          </a:xfrm>
          <a:prstGeom prst="roundRect">
            <a:avLst/>
          </a:prstGeom>
          <a:solidFill>
            <a:srgbClr val="15151F"/>
          </a:solidFill>
          <a:ln w="12700">
            <a:solidFill>
              <a:srgbClr val="2E2E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file-brink.png"/>
          <p:cNvPicPr>
            <a:picLocks noChangeAspect="1"/>
          </p:cNvPicPr>
          <p:nvPr/>
        </p:nvPicPr>
        <p:blipFill>
          <a:blip r:embed="rId2"/>
          <a:stretch>
            <a:fillRect/>
          </a:stretch>
        </p:blipFill>
        <p:spPr>
          <a:xfrm>
            <a:off x="7330440" y="1051560"/>
            <a:ext cx="3627120" cy="51206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SEBASTIAN drives · Jonah + Andrea narrate · 2:30</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Let's look at the real thing</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0" i="0">
                <a:solidFill>
                  <a:srgbClr val="EDEDF5"/>
                </a:solidFill>
                <a:latin typeface="Inter"/>
              </a:rPr>
              <a:t>•  brink-xg7p.onrender.com</a:t>
            </a:r>
          </a:p>
          <a:p>
            <a:pPr>
              <a:spcAft>
                <a:spcPts val="1400"/>
              </a:spcAft>
            </a:pPr>
            <a:r>
              <a:rPr sz="2000" b="0" i="0">
                <a:solidFill>
                  <a:srgbClr val="EDEDF5"/>
                </a:solidFill>
                <a:latin typeface="Inter"/>
              </a:rPr>
              <a:t>•  1.  Feed — scroll, tap the art to play, react and comment</a:t>
            </a:r>
          </a:p>
          <a:p>
            <a:pPr>
              <a:spcAft>
                <a:spcPts val="1400"/>
              </a:spcAft>
            </a:pPr>
            <a:r>
              <a:rPr sz="2000" b="0" i="0">
                <a:solidFill>
                  <a:srgbClr val="EDEDF5"/>
                </a:solidFill>
                <a:latin typeface="Inter"/>
              </a:rPr>
              <a:t>•  2.  Share — post the track I'm listening to right now</a:t>
            </a:r>
          </a:p>
          <a:p>
            <a:pPr>
              <a:spcAft>
                <a:spcPts val="1400"/>
              </a:spcAft>
            </a:pPr>
            <a:r>
              <a:rPr sz="2000" b="0" i="0">
                <a:solidFill>
                  <a:srgbClr val="EDEDF5"/>
                </a:solidFill>
                <a:latin typeface="Inter"/>
              </a:rPr>
              <a:t>•  3.  Profile — taste community + how compatible we are   (Andrea)</a:t>
            </a:r>
          </a:p>
          <a:p>
            <a:pPr>
              <a:spcAft>
                <a:spcPts val="1400"/>
              </a:spcAft>
            </a:pPr>
            <a:r>
              <a:rPr sz="2000" b="0" i="0">
                <a:solidFill>
                  <a:srgbClr val="EDEDF5"/>
                </a:solidFill>
                <a:latin typeface="Inter"/>
              </a:rPr>
              <a:t>•  4.  Analytics — the 7 communities and their 'audio DNA'   (Jonah)</a:t>
            </a:r>
          </a:p>
          <a:p>
            <a:pPr>
              <a:spcAft>
                <a:spcPts val="1400"/>
              </a:spcAft>
            </a:pPr>
            <a:r>
              <a:rPr sz="2000" b="1" i="0">
                <a:solidFill>
                  <a:srgbClr val="F472B6"/>
                </a:solidFill>
                <a:latin typeface="Inter"/>
              </a:rPr>
              <a:t>Warm the site up first. The next slides are screenshots, as a backup.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320040"/>
            <a:ext cx="10881360" cy="548640"/>
          </a:xfrm>
          <a:prstGeom prst="rect">
            <a:avLst/>
          </a:prstGeom>
          <a:noFill/>
        </p:spPr>
        <p:txBody>
          <a:bodyPr wrap="square">
            <a:spAutoFit/>
          </a:bodyPr>
          <a:lstStyle/>
          <a:p>
            <a:r>
              <a:rPr sz="1800" b="1" i="0">
                <a:solidFill>
                  <a:srgbClr val="9D8DF1"/>
                </a:solidFill>
                <a:latin typeface="Inter"/>
              </a:rPr>
              <a:t>Landing — sign in; your listening becomes the feed</a:t>
            </a:r>
          </a:p>
        </p:txBody>
      </p:sp>
      <p:pic>
        <p:nvPicPr>
          <p:cNvPr id="3" name="Picture 2" descr="Landing-brink.png"/>
          <p:cNvPicPr>
            <a:picLocks noChangeAspect="1"/>
          </p:cNvPicPr>
          <p:nvPr/>
        </p:nvPicPr>
        <p:blipFill>
          <a:blip r:embed="rId2"/>
          <a:stretch>
            <a:fillRect/>
          </a:stretch>
        </p:blipFill>
        <p:spPr>
          <a:xfrm>
            <a:off x="4148291" y="1005840"/>
            <a:ext cx="3864937" cy="53949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320040"/>
            <a:ext cx="10881360" cy="548640"/>
          </a:xfrm>
          <a:prstGeom prst="rect">
            <a:avLst/>
          </a:prstGeom>
          <a:noFill/>
        </p:spPr>
        <p:txBody>
          <a:bodyPr wrap="square">
            <a:spAutoFit/>
          </a:bodyPr>
          <a:lstStyle/>
          <a:p>
            <a:r>
              <a:rPr sz="1800" b="1" i="0">
                <a:solidFill>
                  <a:srgbClr val="9D8DF1"/>
                </a:solidFill>
                <a:latin typeface="Inter"/>
              </a:rPr>
              <a:t>Feed — songs play in place, with reactions &amp; comments</a:t>
            </a:r>
          </a:p>
        </p:txBody>
      </p:sp>
      <p:pic>
        <p:nvPicPr>
          <p:cNvPr id="3" name="Picture 2" descr="Feed-brink.png"/>
          <p:cNvPicPr>
            <a:picLocks noChangeAspect="1"/>
          </p:cNvPicPr>
          <p:nvPr/>
        </p:nvPicPr>
        <p:blipFill>
          <a:blip r:embed="rId2"/>
          <a:stretch>
            <a:fillRect/>
          </a:stretch>
        </p:blipFill>
        <p:spPr>
          <a:xfrm>
            <a:off x="4067311" y="1005840"/>
            <a:ext cx="4026897" cy="53949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320040"/>
            <a:ext cx="10881360" cy="548640"/>
          </a:xfrm>
          <a:prstGeom prst="rect">
            <a:avLst/>
          </a:prstGeom>
          <a:noFill/>
        </p:spPr>
        <p:txBody>
          <a:bodyPr wrap="square">
            <a:spAutoFit/>
          </a:bodyPr>
          <a:lstStyle/>
          <a:p>
            <a:r>
              <a:rPr sz="1800" b="1" i="0">
                <a:solidFill>
                  <a:srgbClr val="9D8DF1"/>
                </a:solidFill>
                <a:latin typeface="Inter"/>
              </a:rPr>
              <a:t>Profile — taste community + how compatible you are</a:t>
            </a:r>
          </a:p>
        </p:txBody>
      </p:sp>
      <p:pic>
        <p:nvPicPr>
          <p:cNvPr id="3" name="Picture 2" descr="Profile-brink.png"/>
          <p:cNvPicPr>
            <a:picLocks noChangeAspect="1"/>
          </p:cNvPicPr>
          <p:nvPr/>
        </p:nvPicPr>
        <p:blipFill>
          <a:blip r:embed="rId2"/>
          <a:stretch>
            <a:fillRect/>
          </a:stretch>
        </p:blipFill>
        <p:spPr>
          <a:xfrm>
            <a:off x="4170045" y="1005840"/>
            <a:ext cx="3821430" cy="53949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320040"/>
            <a:ext cx="10881360" cy="548640"/>
          </a:xfrm>
          <a:prstGeom prst="rect">
            <a:avLst/>
          </a:prstGeom>
          <a:noFill/>
        </p:spPr>
        <p:txBody>
          <a:bodyPr wrap="square">
            <a:spAutoFit/>
          </a:bodyPr>
          <a:lstStyle/>
          <a:p>
            <a:r>
              <a:rPr sz="1800" b="1" i="0">
                <a:solidFill>
                  <a:srgbClr val="9D8DF1"/>
                </a:solidFill>
                <a:latin typeface="Inter"/>
              </a:rPr>
              <a:t>Artist studio — behind-the-scenes posts</a:t>
            </a:r>
          </a:p>
        </p:txBody>
      </p:sp>
      <p:pic>
        <p:nvPicPr>
          <p:cNvPr id="3" name="Picture 2" descr="artist-brink.png"/>
          <p:cNvPicPr>
            <a:picLocks noChangeAspect="1"/>
          </p:cNvPicPr>
          <p:nvPr/>
        </p:nvPicPr>
        <p:blipFill>
          <a:blip r:embed="rId2"/>
          <a:stretch>
            <a:fillRect/>
          </a:stretch>
        </p:blipFill>
        <p:spPr>
          <a:xfrm>
            <a:off x="4192158" y="1005840"/>
            <a:ext cx="3777204" cy="539496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320040"/>
            <a:ext cx="10881360" cy="548640"/>
          </a:xfrm>
          <a:prstGeom prst="rect">
            <a:avLst/>
          </a:prstGeom>
          <a:noFill/>
        </p:spPr>
        <p:txBody>
          <a:bodyPr wrap="square">
            <a:spAutoFit/>
          </a:bodyPr>
          <a:lstStyle/>
          <a:p>
            <a:r>
              <a:rPr sz="1800" b="1" i="0">
                <a:solidFill>
                  <a:srgbClr val="9D8DF1"/>
                </a:solidFill>
                <a:latin typeface="Inter"/>
              </a:rPr>
              <a:t>Analytics — the model's real output: communities &amp; audio DNA</a:t>
            </a:r>
          </a:p>
        </p:txBody>
      </p:sp>
      <p:pic>
        <p:nvPicPr>
          <p:cNvPr id="3" name="Picture 2" descr="analytics-brink.png"/>
          <p:cNvPicPr>
            <a:picLocks noChangeAspect="1"/>
          </p:cNvPicPr>
          <p:nvPr/>
        </p:nvPicPr>
        <p:blipFill>
          <a:blip r:embed="rId2"/>
          <a:stretch>
            <a:fillRect/>
          </a:stretch>
        </p:blipFill>
        <p:spPr>
          <a:xfrm>
            <a:off x="4157624" y="1005840"/>
            <a:ext cx="3846272" cy="539496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TextBox 1"/>
          <p:cNvSpPr txBox="1"/>
          <p:nvPr/>
        </p:nvSpPr>
        <p:spPr>
          <a:xfrm>
            <a:off x="640080" y="457200"/>
            <a:ext cx="10881360" cy="365760"/>
          </a:xfrm>
          <a:prstGeom prst="rect">
            <a:avLst/>
          </a:prstGeom>
          <a:noFill/>
        </p:spPr>
        <p:txBody>
          <a:bodyPr wrap="square">
            <a:spAutoFit/>
          </a:bodyPr>
          <a:lstStyle/>
          <a:p>
            <a:r>
              <a:rPr sz="1300" b="1" i="0">
                <a:solidFill>
                  <a:srgbClr val="8A8AA3"/>
                </a:solidFill>
                <a:latin typeface="Inter"/>
              </a:rPr>
              <a:t>ALL · 0:45</a:t>
            </a:r>
          </a:p>
        </p:txBody>
      </p:sp>
      <p:sp>
        <p:nvSpPr>
          <p:cNvPr id="3" name="TextBox 2"/>
          <p:cNvSpPr txBox="1"/>
          <p:nvPr/>
        </p:nvSpPr>
        <p:spPr>
          <a:xfrm>
            <a:off x="640080" y="868680"/>
            <a:ext cx="10881360" cy="1280160"/>
          </a:xfrm>
          <a:prstGeom prst="rect">
            <a:avLst/>
          </a:prstGeom>
          <a:noFill/>
        </p:spPr>
        <p:txBody>
          <a:bodyPr wrap="square">
            <a:spAutoFit/>
          </a:bodyPr>
          <a:lstStyle/>
          <a:p>
            <a:r>
              <a:rPr sz="3200" b="1" i="0">
                <a:solidFill>
                  <a:srgbClr val="9D8DF1"/>
                </a:solidFill>
                <a:latin typeface="Inter"/>
              </a:rPr>
              <a:t>What we took away</a:t>
            </a:r>
          </a:p>
        </p:txBody>
      </p:sp>
      <p:sp>
        <p:nvSpPr>
          <p:cNvPr id="4" name="Rectangle 3"/>
          <p:cNvSpPr/>
          <p:nvPr/>
        </p:nvSpPr>
        <p:spPr>
          <a:xfrm>
            <a:off x="658368" y="2011680"/>
            <a:ext cx="1371600" cy="38100"/>
          </a:xfrm>
          <a:prstGeom prst="rect">
            <a:avLst/>
          </a:prstGeom>
          <a:solidFill>
            <a:srgbClr val="9D8D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10881360" cy="4023360"/>
          </a:xfrm>
          <a:prstGeom prst="rect">
            <a:avLst/>
          </a:prstGeom>
          <a:noFill/>
        </p:spPr>
        <p:txBody>
          <a:bodyPr wrap="square">
            <a:spAutoFit/>
          </a:bodyPr>
          <a:lstStyle/>
          <a:p>
            <a:pPr>
              <a:spcAft>
                <a:spcPts val="1400"/>
              </a:spcAft>
            </a:pPr>
            <a:r>
              <a:rPr sz="2000" b="1" i="0">
                <a:solidFill>
                  <a:srgbClr val="F472B6"/>
                </a:solidFill>
                <a:latin typeface="Inter"/>
              </a:rPr>
              <a:t>The AI was only as good as the context and structure we gave it.  (Andrea)</a:t>
            </a:r>
          </a:p>
          <a:p>
            <a:pPr>
              <a:spcAft>
                <a:spcPts val="1400"/>
              </a:spcAft>
            </a:pPr>
            <a:r>
              <a:rPr sz="2000" b="1" i="0">
                <a:solidFill>
                  <a:srgbClr val="F472B6"/>
                </a:solidFill>
                <a:latin typeface="Inter"/>
              </a:rPr>
              <a:t>Being honest about the model's limits made it more convincing, not less.  (Jonah)</a:t>
            </a:r>
          </a:p>
          <a:p>
            <a:pPr>
              <a:spcAft>
                <a:spcPts val="1400"/>
              </a:spcAft>
            </a:pPr>
            <a:r>
              <a:rPr sz="2000" b="1" i="0">
                <a:solidFill>
                  <a:srgbClr val="F472B6"/>
                </a:solidFill>
                <a:latin typeface="Inter"/>
              </a:rPr>
              <a:t>One codebase and one look let three people move without stepping on each other.  (Sebastian)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B12"/>
        </a:solidFill>
        <a:effectLst/>
      </p:bgPr>
    </p:bg>
    <p:spTree>
      <p:nvGrpSpPr>
        <p:cNvPr id="1" name=""/>
        <p:cNvGrpSpPr/>
        <p:nvPr/>
      </p:nvGrpSpPr>
      <p:grpSpPr/>
      <p:sp>
        <p:nvSpPr>
          <p:cNvPr id="2" name="Rectangle 1"/>
          <p:cNvSpPr/>
          <p:nvPr/>
        </p:nvSpPr>
        <p:spPr>
          <a:xfrm>
            <a:off x="822960" y="2331720"/>
            <a:ext cx="2194560" cy="635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468880"/>
            <a:ext cx="10515600" cy="1463040"/>
          </a:xfrm>
          <a:prstGeom prst="rect">
            <a:avLst/>
          </a:prstGeom>
          <a:noFill/>
        </p:spPr>
        <p:txBody>
          <a:bodyPr wrap="square">
            <a:spAutoFit/>
          </a:bodyPr>
          <a:lstStyle/>
          <a:p>
            <a:r>
              <a:rPr sz="5000" b="1" i="0">
                <a:solidFill>
                  <a:srgbClr val="EDEDF5"/>
                </a:solidFill>
                <a:latin typeface="Inter"/>
              </a:rPr>
              <a:t>Brink — Music, but social. 🎶</a:t>
            </a:r>
          </a:p>
        </p:txBody>
      </p:sp>
      <p:sp>
        <p:nvSpPr>
          <p:cNvPr id="4" name="TextBox 3"/>
          <p:cNvSpPr txBox="1"/>
          <p:nvPr/>
        </p:nvSpPr>
        <p:spPr>
          <a:xfrm>
            <a:off x="822960" y="3749039"/>
            <a:ext cx="10515600" cy="914400"/>
          </a:xfrm>
          <a:prstGeom prst="rect">
            <a:avLst/>
          </a:prstGeom>
          <a:noFill/>
        </p:spPr>
        <p:txBody>
          <a:bodyPr wrap="square">
            <a:spAutoFit/>
          </a:bodyPr>
          <a:lstStyle/>
          <a:p>
            <a:r>
              <a:rPr sz="2400" b="1" i="0">
                <a:solidFill>
                  <a:srgbClr val="9D8DF1"/>
                </a:solidFill>
                <a:latin typeface="Inter"/>
              </a:rPr>
              <a:t>Thanks — happy to take questions.</a:t>
            </a:r>
          </a:p>
        </p:txBody>
      </p:sp>
      <p:sp>
        <p:nvSpPr>
          <p:cNvPr id="5" name="TextBox 4"/>
          <p:cNvSpPr txBox="1"/>
          <p:nvPr/>
        </p:nvSpPr>
        <p:spPr>
          <a:xfrm>
            <a:off x="822960" y="4709160"/>
            <a:ext cx="10515600" cy="1280160"/>
          </a:xfrm>
          <a:prstGeom prst="rect">
            <a:avLst/>
          </a:prstGeom>
          <a:noFill/>
        </p:spPr>
        <p:txBody>
          <a:bodyPr wrap="square">
            <a:spAutoFit/>
          </a:bodyPr>
          <a:lstStyle/>
          <a:p>
            <a:r>
              <a:rPr sz="1600" b="0" i="0">
                <a:solidFill>
                  <a:srgbClr val="8A8AA3"/>
                </a:solidFill>
                <a:latin typeface="Inter"/>
              </a:rPr>
              <a:t>brink-xg7p.onrender.com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